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91440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56208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922008"/>
            <a:ext cx="10689336" cy="64008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747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給 与 台 帳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0" kern="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LEDGER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3520440"/>
            <a:ext cx="6675120" cy="0"/>
          </a:xfrm>
          <a:prstGeom prst="line">
            <a:avLst/>
          </a:prstGeom>
          <a:noFill/>
          <a:ln w="19050">
            <a:solidFill>
              <a:srgbClr val="CFD8D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4480" y="3703320"/>
          <a:ext cx="7580376" cy="548640"/>
        </p:xfrm>
        <a:graphic>
          <a:graphicData uri="http://schemas.openxmlformats.org/drawingml/2006/table">
            <a:tbl>
              <a:tblPr/>
              <a:tblGrid>
                <a:gridCol w="1188720"/>
                <a:gridCol w="1338072"/>
                <a:gridCol w="1188720"/>
                <a:gridCol w="1338072"/>
                <a:gridCol w="1188720"/>
                <a:gridCol w="133807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年　　度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BDBDBD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令和　　年度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会 社 名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BDBDBD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株式会社〇〇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担当者名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BDBDBD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〇〇　〇〇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9951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この書類は機密情報です。取り扱いにご注意ください。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0140696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給 与 明 細 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94960" y="201168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株式会社〇〇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30936"/>
          <a:ext cx="10140696" cy="438912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1188720"/>
                <a:gridCol w="2194560"/>
                <a:gridCol w="1188720"/>
                <a:gridCol w="2185416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氏　　名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山田　太郎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所　　属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営業部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対象年月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2025年4月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1115568"/>
            <a:ext cx="10140696" cy="2560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115568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勤 怠 情 報</a:t>
            </a:r>
            <a:endParaRPr lang="en-US" sz="10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0140696" cy="822960"/>
        </p:xfrm>
        <a:graphic>
          <a:graphicData uri="http://schemas.openxmlformats.org/drawingml/2006/table">
            <a:tbl>
              <a:tblPr/>
              <a:tblGrid>
                <a:gridCol w="2028139"/>
                <a:gridCol w="2028139"/>
                <a:gridCol w="2028139"/>
                <a:gridCol w="2028139"/>
                <a:gridCol w="2028139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所定労働日数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出勤日数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欠勤日数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有給取得日数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残業時間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21日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20日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1日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1日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8.5時間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2240280"/>
            <a:ext cx="5001768" cy="2560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84048" y="2240280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支 給 項 目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13248" y="2240280"/>
            <a:ext cx="5001768" cy="2560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522976" y="2240280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控 除 項 目</a:t>
            </a:r>
            <a:endParaRPr lang="en-US" sz="100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96312"/>
          <a:ext cx="5001768" cy="914400"/>
        </p:xfrm>
        <a:graphic>
          <a:graphicData uri="http://schemas.openxmlformats.org/drawingml/2006/table">
            <a:tbl>
              <a:tblPr/>
              <a:tblGrid>
                <a:gridCol w="2750972"/>
                <a:gridCol w="2250796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基本給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¥ 300,000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役職手当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¥ 20,000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残業手当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¥ 15,300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通勤手当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¥ 10,000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その他手当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¥ 0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支 給 合 計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¥ 345,300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13248" y="2496312"/>
          <a:ext cx="5001768" cy="914400"/>
        </p:xfrm>
        <a:graphic>
          <a:graphicData uri="http://schemas.openxmlformats.org/drawingml/2006/table">
            <a:tbl>
              <a:tblPr/>
              <a:tblGrid>
                <a:gridCol w="2750972"/>
                <a:gridCol w="2250796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健康保険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¥ 17,420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厚生年金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¥ 31,110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雇用保険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¥ 1,036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所得税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¥ 7,590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住民税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¥ 12,000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その他控除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¥ 0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控 除 合 計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¥ 69,156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274320" y="5340096"/>
            <a:ext cx="10140696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274320" y="5340096"/>
            <a:ext cx="10140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 引 支 給 額　</a:t>
            </a:r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支給合計 ¥ 345,300</a:t>
            </a:r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−  </a:t>
            </a:r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控除合計 ¥ 69,156</a:t>
            </a:r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＝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¥ 276,144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74320" y="5916168"/>
            <a:ext cx="10140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E9E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この給与明細は機密情報です。取り扱いに十分ご注意ください。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0140696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給 与 明 細 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94960" y="201168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株式会社〇〇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30936"/>
          <a:ext cx="10140696" cy="438912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1188720"/>
                <a:gridCol w="2194560"/>
                <a:gridCol w="1188720"/>
                <a:gridCol w="2185416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氏　　名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所　　属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対象年月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1115568"/>
            <a:ext cx="10140696" cy="2560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115568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勤 怠 情 報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0140696" cy="822960"/>
        </p:xfrm>
        <a:graphic>
          <a:graphicData uri="http://schemas.openxmlformats.org/drawingml/2006/table">
            <a:tbl>
              <a:tblPr/>
              <a:tblGrid>
                <a:gridCol w="2028139"/>
                <a:gridCol w="2028139"/>
                <a:gridCol w="2028139"/>
                <a:gridCol w="2028139"/>
                <a:gridCol w="2028139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所定労働日数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出勤日数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欠勤日数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有給取得日数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残業時間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2240280"/>
            <a:ext cx="5001768" cy="2560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84048" y="2240280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支 給 項 目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13248" y="2240280"/>
            <a:ext cx="5001768" cy="2560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522976" y="2240280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控 除 項 目</a:t>
            </a:r>
            <a:endParaRPr lang="en-US" sz="10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96312"/>
          <a:ext cx="5001768" cy="914400"/>
        </p:xfrm>
        <a:graphic>
          <a:graphicData uri="http://schemas.openxmlformats.org/drawingml/2006/table">
            <a:tbl>
              <a:tblPr/>
              <a:tblGrid>
                <a:gridCol w="2750972"/>
                <a:gridCol w="2250796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基本給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役職手当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残業手当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通勤手当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その他手当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支 給 合 計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13248" y="2496312"/>
          <a:ext cx="5001768" cy="914400"/>
        </p:xfrm>
        <a:graphic>
          <a:graphicData uri="http://schemas.openxmlformats.org/drawingml/2006/table">
            <a:tbl>
              <a:tblPr/>
              <a:tblGrid>
                <a:gridCol w="2750972"/>
                <a:gridCol w="2250796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健康保険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厚生年金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雇用保険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所得税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住民税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その他控除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控 除 合 計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274320" y="5340096"/>
            <a:ext cx="10140696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274320" y="5340096"/>
            <a:ext cx="10140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 引 支 給 額　</a:t>
            </a:r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支給合計 ¥ ___,___</a:t>
            </a:r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−  </a:t>
            </a:r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控除合計 ¥ ___,___</a:t>
            </a:r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＝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 ___,___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74320" y="5916168"/>
            <a:ext cx="10140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E9E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この給与明細は機密情報です。取り扱いに十分ご注意ください。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0140696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 間 給 与 累 計 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60720" y="2011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氏名：山田　太郎　　対象年度：2025年度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58368"/>
          <a:ext cx="10140696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8686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7月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9月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11月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12月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74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合　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8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支給合計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345,300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345,300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360,600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345,300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395,300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345,300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345,300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360,600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345,300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345,300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345,300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345,300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4,224,200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424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控除合計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69,156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69,156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71,856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69,156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75,156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69,156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69,156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71,856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69,156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69,156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69,156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69,156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841,272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差引支給額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276,144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276,144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288,744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276,144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320,144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276,144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276,144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288,744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276,144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276,144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276,144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276,144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3,382,928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063240"/>
            <a:ext cx="3288792" cy="77724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099816"/>
            <a:ext cx="310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年間支給合計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3410712"/>
            <a:ext cx="3105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¥ 4,224,200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700272" y="3063240"/>
            <a:ext cx="3288792" cy="777240"/>
          </a:xfrm>
          <a:prstGeom prst="rect">
            <a:avLst/>
          </a:prstGeom>
          <a:solidFill>
            <a:srgbClr val="E3F2FD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91712" y="3099816"/>
            <a:ext cx="310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年間控除合計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791712" y="3410712"/>
            <a:ext cx="3105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¥ 841,272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126224" y="3063240"/>
            <a:ext cx="3288792" cy="777240"/>
          </a:xfrm>
          <a:prstGeom prst="rect">
            <a:avLst/>
          </a:prstGeom>
          <a:solidFill>
            <a:srgbClr val="1565C0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17664" y="3099816"/>
            <a:ext cx="310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年間差引支給額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217664" y="3410712"/>
            <a:ext cx="3105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¥ 3,382,928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74320" y="3977640"/>
            <a:ext cx="10140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金額の単位は円です。サンプルデータのため、実際の給与とは異なります。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給与台帳</dc:title>
  <dc:subject>PptxGenJS Presentation</dc:subject>
  <dc:creator>PptxGenJS</dc:creator>
  <cp:lastModifiedBy>PptxGenJS</cp:lastModifiedBy>
  <cp:revision>1</cp:revision>
  <dcterms:created xsi:type="dcterms:W3CDTF">2026-03-16T06:10:35Z</dcterms:created>
  <dcterms:modified xsi:type="dcterms:W3CDTF">2026-03-16T06:10:35Z</dcterms:modified>
</cp:coreProperties>
</file>