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A843"/>
          </a:solidFill>
          <a:ln/>
        </p:spPr>
      </p:sp>
      <p:sp>
        <p:nvSpPr>
          <p:cNvPr id="3" name="Text 1"/>
          <p:cNvSpPr/>
          <p:nvPr/>
        </p:nvSpPr>
        <p:spPr>
          <a:xfrm>
            <a:off x="502920" y="1188720"/>
            <a:ext cx="7772400" cy="100584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AIツール 使い分け講座</a:t>
            </a:r>
            <a:endParaRPr lang="en-US" sz="3600" dirty="0"/>
          </a:p>
        </p:txBody>
      </p:sp>
      <p:sp>
        <p:nvSpPr>
          <p:cNvPr id="4" name="Text 2"/>
          <p:cNvSpPr/>
          <p:nvPr/>
        </p:nvSpPr>
        <p:spPr>
          <a:xfrm>
            <a:off x="502920" y="2331720"/>
            <a:ext cx="7772400" cy="548640"/>
          </a:xfrm>
          <a:prstGeom prst="rect">
            <a:avLst/>
          </a:prstGeom>
          <a:noFill/>
          <a:ln/>
        </p:spPr>
        <p:txBody>
          <a:bodyPr wrap="square" lIns="0" tIns="0" rIns="0" bIns="0" rtlCol="0" anchor="ctr"/>
          <a:lstStyle/>
          <a:p>
            <a:pPr indent="0" marL="0">
              <a:buNone/>
            </a:pPr>
            <a:r>
              <a:rPr lang="en-US" sz="2000" dirty="0">
                <a:solidFill>
                  <a:srgbClr val="F0CC7A"/>
                </a:solidFill>
                <a:latin typeface="Meiryo" pitchFamily="34" charset="0"/>
                <a:ea typeface="Meiryo" pitchFamily="34" charset="-122"/>
                <a:cs typeface="Meiryo" pitchFamily="34" charset="-120"/>
              </a:rPr>
              <a:t>Claude・Claude Code・Antigravity</a:t>
            </a:r>
            <a:endParaRPr lang="en-US" sz="2000" dirty="0"/>
          </a:p>
        </p:txBody>
      </p:sp>
      <p:sp>
        <p:nvSpPr>
          <p:cNvPr id="5" name="Text 3"/>
          <p:cNvSpPr/>
          <p:nvPr/>
        </p:nvSpPr>
        <p:spPr>
          <a:xfrm>
            <a:off x="502920" y="2926080"/>
            <a:ext cx="7315200" cy="457200"/>
          </a:xfrm>
          <a:prstGeom prst="rect">
            <a:avLst/>
          </a:prstGeom>
          <a:noFill/>
          <a:ln/>
        </p:spPr>
        <p:txBody>
          <a:bodyPr wrap="square" lIns="0" tIns="0" rIns="0" bIns="0" rtlCol="0" anchor="ctr"/>
          <a:lstStyle/>
          <a:p>
            <a:pPr indent="0" marL="0">
              <a:buNone/>
            </a:pPr>
            <a:r>
              <a:rPr lang="en-US" sz="1400" dirty="0">
                <a:solidFill>
                  <a:srgbClr val="8892A4"/>
                </a:solidFill>
                <a:latin typeface="Meiryo" pitchFamily="34" charset="0"/>
                <a:ea typeface="Meiryo" pitchFamily="34" charset="-122"/>
                <a:cs typeface="Meiryo" pitchFamily="34" charset="-120"/>
              </a:rPr>
              <a:t>3つのAIを使いこなして、仕事を10倍速にする</a:t>
            </a:r>
            <a:endParaRPr lang="en-US" sz="1400" dirty="0"/>
          </a:p>
        </p:txBody>
      </p:sp>
      <p:sp>
        <p:nvSpPr>
          <p:cNvPr id="6" name="Shape 4"/>
          <p:cNvSpPr/>
          <p:nvPr/>
        </p:nvSpPr>
        <p:spPr>
          <a:xfrm>
            <a:off x="7498080" y="3474720"/>
            <a:ext cx="1463040" cy="1463040"/>
          </a:xfrm>
          <a:prstGeom prst="ellipse">
            <a:avLst/>
          </a:prstGeom>
          <a:solidFill>
            <a:srgbClr val="D4A843">
              <a:alpha val="20000"/>
            </a:srgbClr>
          </a:solidFill>
          <a:ln/>
        </p:spPr>
      </p:sp>
      <p:sp>
        <p:nvSpPr>
          <p:cNvPr id="7" name="Shape 5"/>
          <p:cNvSpPr/>
          <p:nvPr/>
        </p:nvSpPr>
        <p:spPr>
          <a:xfrm>
            <a:off x="7863840" y="3749040"/>
            <a:ext cx="914400" cy="914400"/>
          </a:xfrm>
          <a:prstGeom prst="ellipse">
            <a:avLst/>
          </a:prstGeom>
          <a:solidFill>
            <a:srgbClr val="D4A843">
              <a:alpha val="4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本日の内容</a:t>
            </a:r>
            <a:endParaRPr lang="en-US" sz="2200" dirty="0"/>
          </a:p>
        </p:txBody>
      </p:sp>
      <p:sp>
        <p:nvSpPr>
          <p:cNvPr id="4" name="Shape 2"/>
          <p:cNvSpPr/>
          <p:nvPr/>
        </p:nvSpPr>
        <p:spPr>
          <a:xfrm>
            <a:off x="457200" y="1005840"/>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5" name="Text 3"/>
          <p:cNvSpPr/>
          <p:nvPr/>
        </p:nvSpPr>
        <p:spPr>
          <a:xfrm>
            <a:off x="457200" y="1051560"/>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01</a:t>
            </a:r>
            <a:endParaRPr lang="en-US" sz="1300" dirty="0"/>
          </a:p>
        </p:txBody>
      </p:sp>
      <p:sp>
        <p:nvSpPr>
          <p:cNvPr id="6" name="Text 4"/>
          <p:cNvSpPr/>
          <p:nvPr/>
        </p:nvSpPr>
        <p:spPr>
          <a:xfrm>
            <a:off x="1051560" y="1078992"/>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AI時代の「道具選び」とは</a:t>
            </a:r>
            <a:endParaRPr lang="en-US" sz="1400" dirty="0"/>
          </a:p>
        </p:txBody>
      </p:sp>
      <p:sp>
        <p:nvSpPr>
          <p:cNvPr id="7" name="Shape 5"/>
          <p:cNvSpPr/>
          <p:nvPr/>
        </p:nvSpPr>
        <p:spPr>
          <a:xfrm>
            <a:off x="457200" y="1810512"/>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8" name="Text 6"/>
          <p:cNvSpPr/>
          <p:nvPr/>
        </p:nvSpPr>
        <p:spPr>
          <a:xfrm>
            <a:off x="457200" y="1856232"/>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02</a:t>
            </a:r>
            <a:endParaRPr lang="en-US" sz="1300" dirty="0"/>
          </a:p>
        </p:txBody>
      </p:sp>
      <p:sp>
        <p:nvSpPr>
          <p:cNvPr id="9" name="Text 7"/>
          <p:cNvSpPr/>
          <p:nvPr/>
        </p:nvSpPr>
        <p:spPr>
          <a:xfrm>
            <a:off x="1051560" y="1883664"/>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3つのツールを知る</a:t>
            </a:r>
            <a:endParaRPr lang="en-US" sz="1400" dirty="0"/>
          </a:p>
        </p:txBody>
      </p:sp>
      <p:sp>
        <p:nvSpPr>
          <p:cNvPr id="10" name="Shape 8"/>
          <p:cNvSpPr/>
          <p:nvPr/>
        </p:nvSpPr>
        <p:spPr>
          <a:xfrm>
            <a:off x="457200" y="2615184"/>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11" name="Text 9"/>
          <p:cNvSpPr/>
          <p:nvPr/>
        </p:nvSpPr>
        <p:spPr>
          <a:xfrm>
            <a:off x="457200" y="2660904"/>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03</a:t>
            </a:r>
            <a:endParaRPr lang="en-US" sz="1300" dirty="0"/>
          </a:p>
        </p:txBody>
      </p:sp>
      <p:sp>
        <p:nvSpPr>
          <p:cNvPr id="12" name="Text 10"/>
          <p:cNvSpPr/>
          <p:nvPr/>
        </p:nvSpPr>
        <p:spPr>
          <a:xfrm>
            <a:off x="1051560" y="2688336"/>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Claude（Claude）の使い方</a:t>
            </a:r>
            <a:endParaRPr lang="en-US" sz="1400" dirty="0"/>
          </a:p>
        </p:txBody>
      </p:sp>
      <p:sp>
        <p:nvSpPr>
          <p:cNvPr id="13" name="Shape 11"/>
          <p:cNvSpPr/>
          <p:nvPr/>
        </p:nvSpPr>
        <p:spPr>
          <a:xfrm>
            <a:off x="457200" y="3419856"/>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14" name="Text 12"/>
          <p:cNvSpPr/>
          <p:nvPr/>
        </p:nvSpPr>
        <p:spPr>
          <a:xfrm>
            <a:off x="457200" y="3465576"/>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04</a:t>
            </a:r>
            <a:endParaRPr lang="en-US" sz="1300" dirty="0"/>
          </a:p>
        </p:txBody>
      </p:sp>
      <p:sp>
        <p:nvSpPr>
          <p:cNvPr id="15" name="Text 13"/>
          <p:cNvSpPr/>
          <p:nvPr/>
        </p:nvSpPr>
        <p:spPr>
          <a:xfrm>
            <a:off x="1051560" y="3493008"/>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Claude Code（Claude Code）の使い方</a:t>
            </a:r>
            <a:endParaRPr lang="en-US" sz="1400" dirty="0"/>
          </a:p>
        </p:txBody>
      </p:sp>
      <p:sp>
        <p:nvSpPr>
          <p:cNvPr id="16" name="Shape 14"/>
          <p:cNvSpPr/>
          <p:nvPr/>
        </p:nvSpPr>
        <p:spPr>
          <a:xfrm>
            <a:off x="4846320" y="1005840"/>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17" name="Text 15"/>
          <p:cNvSpPr/>
          <p:nvPr/>
        </p:nvSpPr>
        <p:spPr>
          <a:xfrm>
            <a:off x="4846320" y="1051560"/>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05</a:t>
            </a:r>
            <a:endParaRPr lang="en-US" sz="1300" dirty="0"/>
          </a:p>
        </p:txBody>
      </p:sp>
      <p:sp>
        <p:nvSpPr>
          <p:cNvPr id="18" name="Text 16"/>
          <p:cNvSpPr/>
          <p:nvPr/>
        </p:nvSpPr>
        <p:spPr>
          <a:xfrm>
            <a:off x="5440680" y="1078992"/>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Antigravityの使い方</a:t>
            </a:r>
            <a:endParaRPr lang="en-US" sz="1400" dirty="0"/>
          </a:p>
        </p:txBody>
      </p:sp>
      <p:sp>
        <p:nvSpPr>
          <p:cNvPr id="19" name="Shape 17"/>
          <p:cNvSpPr/>
          <p:nvPr/>
        </p:nvSpPr>
        <p:spPr>
          <a:xfrm>
            <a:off x="4846320" y="1810512"/>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20" name="Text 18"/>
          <p:cNvSpPr/>
          <p:nvPr/>
        </p:nvSpPr>
        <p:spPr>
          <a:xfrm>
            <a:off x="4846320" y="1856232"/>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06</a:t>
            </a:r>
            <a:endParaRPr lang="en-US" sz="1300" dirty="0"/>
          </a:p>
        </p:txBody>
      </p:sp>
      <p:sp>
        <p:nvSpPr>
          <p:cNvPr id="21" name="Text 19"/>
          <p:cNvSpPr/>
          <p:nvPr/>
        </p:nvSpPr>
        <p:spPr>
          <a:xfrm>
            <a:off x="5440680" y="1883664"/>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3つを組み合わせた作業フロー</a:t>
            </a:r>
            <a:endParaRPr lang="en-US" sz="1400" dirty="0"/>
          </a:p>
        </p:txBody>
      </p:sp>
      <p:sp>
        <p:nvSpPr>
          <p:cNvPr id="22" name="Shape 20"/>
          <p:cNvSpPr/>
          <p:nvPr/>
        </p:nvSpPr>
        <p:spPr>
          <a:xfrm>
            <a:off x="4846320" y="2615184"/>
            <a:ext cx="502920" cy="50292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23" name="Text 21"/>
          <p:cNvSpPr/>
          <p:nvPr/>
        </p:nvSpPr>
        <p:spPr>
          <a:xfrm>
            <a:off x="4846320" y="2660904"/>
            <a:ext cx="502920" cy="411480"/>
          </a:xfrm>
          <a:prstGeom prst="rect">
            <a:avLst/>
          </a:prstGeom>
          <a:noFill/>
          <a:ln/>
        </p:spPr>
        <p:txBody>
          <a:bodyPr wrap="square" lIns="0" tIns="0" rIns="0" bIns="0" rtlCol="0" anchor="ctr"/>
          <a:lstStyle/>
          <a:p>
            <a:pPr algn="ctr" indent="0" marL="0">
              <a:buNone/>
            </a:pPr>
            <a:r>
              <a:rPr lang="en-US" sz="1300" b="1" dirty="0">
                <a:solidFill>
                  <a:srgbClr val="D4A843"/>
                </a:solidFill>
                <a:latin typeface="Meiryo" pitchFamily="34" charset="0"/>
                <a:ea typeface="Meiryo" pitchFamily="34" charset="-122"/>
                <a:cs typeface="Meiryo" pitchFamily="34" charset="-120"/>
              </a:rPr>
              <a:t>07</a:t>
            </a:r>
            <a:endParaRPr lang="en-US" sz="1300" dirty="0"/>
          </a:p>
        </p:txBody>
      </p:sp>
      <p:sp>
        <p:nvSpPr>
          <p:cNvPr id="24" name="Text 22"/>
          <p:cNvSpPr/>
          <p:nvPr/>
        </p:nvSpPr>
        <p:spPr>
          <a:xfrm>
            <a:off x="5440680" y="2688336"/>
            <a:ext cx="3749040" cy="36576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実践演習と質疑応答</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AI時代の「道具選び」とは</a:t>
            </a:r>
            <a:endParaRPr lang="en-US" sz="2200" dirty="0"/>
          </a:p>
        </p:txBody>
      </p:sp>
      <p:sp>
        <p:nvSpPr>
          <p:cNvPr id="4" name="Text 2"/>
          <p:cNvSpPr/>
          <p:nvPr/>
        </p:nvSpPr>
        <p:spPr>
          <a:xfrm>
            <a:off x="457200" y="960120"/>
            <a:ext cx="8229600" cy="502920"/>
          </a:xfrm>
          <a:prstGeom prst="rect">
            <a:avLst/>
          </a:prstGeom>
          <a:noFill/>
          <a:ln/>
        </p:spPr>
        <p:txBody>
          <a:bodyPr wrap="square" lIns="0" tIns="0" rIns="0" bIns="0" rtlCol="0" anchor="ctr"/>
          <a:lstStyle/>
          <a:p>
            <a:pPr indent="0" marL="0">
              <a:buNone/>
            </a:pPr>
            <a:r>
              <a:rPr lang="en-US" sz="1600" dirty="0">
                <a:solidFill>
                  <a:srgbClr val="1A1F36"/>
                </a:solidFill>
                <a:latin typeface="Meiryo" pitchFamily="34" charset="0"/>
                <a:ea typeface="Meiryo" pitchFamily="34" charset="-122"/>
                <a:cs typeface="Meiryo" pitchFamily="34" charset="-120"/>
              </a:rPr>
              <a:t>AIを1つだけ使っていると、できることに限界がある</a:t>
            </a:r>
            <a:endParaRPr lang="en-US" sz="1600" dirty="0"/>
          </a:p>
        </p:txBody>
      </p:sp>
      <p:sp>
        <p:nvSpPr>
          <p:cNvPr id="5" name="Shape 3"/>
          <p:cNvSpPr/>
          <p:nvPr/>
        </p:nvSpPr>
        <p:spPr>
          <a:xfrm>
            <a:off x="457200" y="1600200"/>
            <a:ext cx="3474720" cy="64008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6" name="Text 4"/>
          <p:cNvSpPr/>
          <p:nvPr/>
        </p:nvSpPr>
        <p:spPr>
          <a:xfrm>
            <a:off x="457200" y="1691640"/>
            <a:ext cx="3474720" cy="457200"/>
          </a:xfrm>
          <a:prstGeom prst="rect">
            <a:avLst/>
          </a:prstGeom>
          <a:noFill/>
          <a:ln/>
        </p:spPr>
        <p:txBody>
          <a:bodyPr wrap="square" lIns="0" tIns="0" rIns="0" bIns="0" rtlCol="0" anchor="ctr"/>
          <a:lstStyle/>
          <a:p>
            <a:pPr algn="ctr" indent="0" marL="0">
              <a:buNone/>
            </a:pPr>
            <a:r>
              <a:rPr lang="en-US" sz="1500" b="1" dirty="0">
                <a:solidFill>
                  <a:srgbClr val="D4A843"/>
                </a:solidFill>
                <a:latin typeface="Meiryo" pitchFamily="34" charset="0"/>
                <a:ea typeface="Meiryo" pitchFamily="34" charset="-122"/>
                <a:cs typeface="Meiryo" pitchFamily="34" charset="-120"/>
              </a:rPr>
              <a:t>相談・文章系</a:t>
            </a:r>
            <a:endParaRPr lang="en-US" sz="1500" dirty="0"/>
          </a:p>
        </p:txBody>
      </p:sp>
      <p:sp>
        <p:nvSpPr>
          <p:cNvPr id="7" name="Shape 5"/>
          <p:cNvSpPr/>
          <p:nvPr/>
        </p:nvSpPr>
        <p:spPr>
          <a:xfrm>
            <a:off x="4572000" y="1600200"/>
            <a:ext cx="3931920" cy="640080"/>
          </a:xfrm>
          <a:prstGeom prst="rect">
            <a:avLst/>
          </a:prstGeom>
          <a:solidFill>
            <a:srgbClr val="EEF0F4"/>
          </a:solidFill>
          <a:ln/>
          <a:effectLst>
            <a:outerShdw sx="100000" sy="100000" kx="0" ky="0" algn="bl" rotWithShape="0" blurRad="101600" dist="38100" dir="8100000">
              <a:srgbClr val="000000">
                <a:alpha val="10000"/>
              </a:srgbClr>
            </a:outerShdw>
          </a:effectLst>
        </p:spPr>
      </p:sp>
      <p:sp>
        <p:nvSpPr>
          <p:cNvPr id="8" name="Text 6"/>
          <p:cNvSpPr/>
          <p:nvPr/>
        </p:nvSpPr>
        <p:spPr>
          <a:xfrm>
            <a:off x="4572000" y="1691640"/>
            <a:ext cx="3931920" cy="457200"/>
          </a:xfrm>
          <a:prstGeom prst="rect">
            <a:avLst/>
          </a:prstGeom>
          <a:noFill/>
          <a:ln/>
        </p:spPr>
        <p:txBody>
          <a:bodyPr wrap="square" lIns="0" tIns="0" rIns="0" bIns="0" rtlCol="0" anchor="ctr"/>
          <a:lstStyle/>
          <a:p>
            <a:pPr algn="ctr" indent="0" marL="0">
              <a:buNone/>
            </a:pPr>
            <a:r>
              <a:rPr lang="en-US" sz="1500" dirty="0">
                <a:solidFill>
                  <a:srgbClr val="1A1F36"/>
                </a:solidFill>
                <a:latin typeface="Meiryo" pitchFamily="34" charset="0"/>
                <a:ea typeface="Meiryo" pitchFamily="34" charset="-122"/>
                <a:cs typeface="Meiryo" pitchFamily="34" charset="-120"/>
              </a:rPr>
              <a:t>得意なAIに任せる</a:t>
            </a:r>
            <a:endParaRPr lang="en-US" sz="1500" dirty="0"/>
          </a:p>
        </p:txBody>
      </p:sp>
      <p:sp>
        <p:nvSpPr>
          <p:cNvPr id="9" name="Text 7"/>
          <p:cNvSpPr/>
          <p:nvPr/>
        </p:nvSpPr>
        <p:spPr>
          <a:xfrm>
            <a:off x="3977640" y="1691640"/>
            <a:ext cx="548640" cy="457200"/>
          </a:xfrm>
          <a:prstGeom prst="rect">
            <a:avLst/>
          </a:prstGeom>
          <a:noFill/>
          <a:ln/>
        </p:spPr>
        <p:txBody>
          <a:bodyPr wrap="square" lIns="0" tIns="0" rIns="0" bIns="0" rtlCol="0" anchor="ctr"/>
          <a:lstStyle/>
          <a:p>
            <a:pPr algn="ctr" indent="0" marL="0">
              <a:buNone/>
            </a:pPr>
            <a:r>
              <a:rPr lang="en-US" sz="1800" dirty="0">
                <a:solidFill>
                  <a:srgbClr val="D4A843"/>
                </a:solidFill>
                <a:latin typeface="Meiryo" pitchFamily="34" charset="0"/>
                <a:ea typeface="Meiryo" pitchFamily="34" charset="-122"/>
                <a:cs typeface="Meiryo" pitchFamily="34" charset="-120"/>
              </a:rPr>
              <a:t>→</a:t>
            </a:r>
            <a:endParaRPr lang="en-US" sz="1800" dirty="0"/>
          </a:p>
        </p:txBody>
      </p:sp>
      <p:sp>
        <p:nvSpPr>
          <p:cNvPr id="10" name="Shape 8"/>
          <p:cNvSpPr/>
          <p:nvPr/>
        </p:nvSpPr>
        <p:spPr>
          <a:xfrm>
            <a:off x="457200" y="2514600"/>
            <a:ext cx="3474720" cy="64008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11" name="Text 9"/>
          <p:cNvSpPr/>
          <p:nvPr/>
        </p:nvSpPr>
        <p:spPr>
          <a:xfrm>
            <a:off x="457200" y="2606040"/>
            <a:ext cx="3474720" cy="457200"/>
          </a:xfrm>
          <a:prstGeom prst="rect">
            <a:avLst/>
          </a:prstGeom>
          <a:noFill/>
          <a:ln/>
        </p:spPr>
        <p:txBody>
          <a:bodyPr wrap="square" lIns="0" tIns="0" rIns="0" bIns="0" rtlCol="0" anchor="ctr"/>
          <a:lstStyle/>
          <a:p>
            <a:pPr algn="ctr" indent="0" marL="0">
              <a:buNone/>
            </a:pPr>
            <a:r>
              <a:rPr lang="en-US" sz="1500" b="1" dirty="0">
                <a:solidFill>
                  <a:srgbClr val="D4A843"/>
                </a:solidFill>
                <a:latin typeface="Meiryo" pitchFamily="34" charset="0"/>
                <a:ea typeface="Meiryo" pitchFamily="34" charset="-122"/>
                <a:cs typeface="Meiryo" pitchFamily="34" charset="-120"/>
              </a:rPr>
              <a:t>コード修正系</a:t>
            </a:r>
            <a:endParaRPr lang="en-US" sz="1500" dirty="0"/>
          </a:p>
        </p:txBody>
      </p:sp>
      <p:sp>
        <p:nvSpPr>
          <p:cNvPr id="12" name="Shape 10"/>
          <p:cNvSpPr/>
          <p:nvPr/>
        </p:nvSpPr>
        <p:spPr>
          <a:xfrm>
            <a:off x="4572000" y="2514600"/>
            <a:ext cx="3931920" cy="640080"/>
          </a:xfrm>
          <a:prstGeom prst="rect">
            <a:avLst/>
          </a:prstGeom>
          <a:solidFill>
            <a:srgbClr val="EEF0F4"/>
          </a:solidFill>
          <a:ln/>
          <a:effectLst>
            <a:outerShdw sx="100000" sy="100000" kx="0" ky="0" algn="bl" rotWithShape="0" blurRad="101600" dist="38100" dir="8100000">
              <a:srgbClr val="000000">
                <a:alpha val="10000"/>
              </a:srgbClr>
            </a:outerShdw>
          </a:effectLst>
        </p:spPr>
      </p:sp>
      <p:sp>
        <p:nvSpPr>
          <p:cNvPr id="13" name="Text 11"/>
          <p:cNvSpPr/>
          <p:nvPr/>
        </p:nvSpPr>
        <p:spPr>
          <a:xfrm>
            <a:off x="4572000" y="2606040"/>
            <a:ext cx="3931920" cy="457200"/>
          </a:xfrm>
          <a:prstGeom prst="rect">
            <a:avLst/>
          </a:prstGeom>
          <a:noFill/>
          <a:ln/>
        </p:spPr>
        <p:txBody>
          <a:bodyPr wrap="square" lIns="0" tIns="0" rIns="0" bIns="0" rtlCol="0" anchor="ctr"/>
          <a:lstStyle/>
          <a:p>
            <a:pPr algn="ctr" indent="0" marL="0">
              <a:buNone/>
            </a:pPr>
            <a:r>
              <a:rPr lang="en-US" sz="1500" dirty="0">
                <a:solidFill>
                  <a:srgbClr val="1A1F36"/>
                </a:solidFill>
                <a:latin typeface="Meiryo" pitchFamily="34" charset="0"/>
                <a:ea typeface="Meiryo" pitchFamily="34" charset="-122"/>
                <a:cs typeface="Meiryo" pitchFamily="34" charset="-120"/>
              </a:rPr>
              <a:t>専門のAIに任せる</a:t>
            </a:r>
            <a:endParaRPr lang="en-US" sz="1500" dirty="0"/>
          </a:p>
        </p:txBody>
      </p:sp>
      <p:sp>
        <p:nvSpPr>
          <p:cNvPr id="14" name="Text 12"/>
          <p:cNvSpPr/>
          <p:nvPr/>
        </p:nvSpPr>
        <p:spPr>
          <a:xfrm>
            <a:off x="3977640" y="2606040"/>
            <a:ext cx="548640" cy="457200"/>
          </a:xfrm>
          <a:prstGeom prst="rect">
            <a:avLst/>
          </a:prstGeom>
          <a:noFill/>
          <a:ln/>
        </p:spPr>
        <p:txBody>
          <a:bodyPr wrap="square" lIns="0" tIns="0" rIns="0" bIns="0" rtlCol="0" anchor="ctr"/>
          <a:lstStyle/>
          <a:p>
            <a:pPr algn="ctr" indent="0" marL="0">
              <a:buNone/>
            </a:pPr>
            <a:r>
              <a:rPr lang="en-US" sz="1800" dirty="0">
                <a:solidFill>
                  <a:srgbClr val="D4A843"/>
                </a:solidFill>
                <a:latin typeface="Meiryo" pitchFamily="34" charset="0"/>
                <a:ea typeface="Meiryo" pitchFamily="34" charset="-122"/>
                <a:cs typeface="Meiryo" pitchFamily="34" charset="-120"/>
              </a:rPr>
              <a:t>→</a:t>
            </a:r>
            <a:endParaRPr lang="en-US" sz="1800" dirty="0"/>
          </a:p>
        </p:txBody>
      </p:sp>
      <p:sp>
        <p:nvSpPr>
          <p:cNvPr id="15" name="Shape 13"/>
          <p:cNvSpPr/>
          <p:nvPr/>
        </p:nvSpPr>
        <p:spPr>
          <a:xfrm>
            <a:off x="457200" y="3429000"/>
            <a:ext cx="3474720" cy="640080"/>
          </a:xfrm>
          <a:prstGeom prst="rect">
            <a:avLst/>
          </a:prstGeom>
          <a:solidFill>
            <a:srgbClr val="1E2761"/>
          </a:solidFill>
          <a:ln/>
          <a:effectLst>
            <a:outerShdw sx="100000" sy="100000" kx="0" ky="0" algn="bl" rotWithShape="0" blurRad="101600" dist="38100" dir="8100000">
              <a:srgbClr val="000000">
                <a:alpha val="10000"/>
              </a:srgbClr>
            </a:outerShdw>
          </a:effectLst>
        </p:spPr>
      </p:sp>
      <p:sp>
        <p:nvSpPr>
          <p:cNvPr id="16" name="Text 14"/>
          <p:cNvSpPr/>
          <p:nvPr/>
        </p:nvSpPr>
        <p:spPr>
          <a:xfrm>
            <a:off x="457200" y="3520440"/>
            <a:ext cx="3474720" cy="457200"/>
          </a:xfrm>
          <a:prstGeom prst="rect">
            <a:avLst/>
          </a:prstGeom>
          <a:noFill/>
          <a:ln/>
        </p:spPr>
        <p:txBody>
          <a:bodyPr wrap="square" lIns="0" tIns="0" rIns="0" bIns="0" rtlCol="0" anchor="ctr"/>
          <a:lstStyle/>
          <a:p>
            <a:pPr algn="ctr" indent="0" marL="0">
              <a:buNone/>
            </a:pPr>
            <a:r>
              <a:rPr lang="en-US" sz="1500" b="1" dirty="0">
                <a:solidFill>
                  <a:srgbClr val="D4A843"/>
                </a:solidFill>
                <a:latin typeface="Meiryo" pitchFamily="34" charset="0"/>
                <a:ea typeface="Meiryo" pitchFamily="34" charset="-122"/>
                <a:cs typeface="Meiryo" pitchFamily="34" charset="-120"/>
              </a:rPr>
              <a:t>アプリ開発系</a:t>
            </a:r>
            <a:endParaRPr lang="en-US" sz="1500" dirty="0"/>
          </a:p>
        </p:txBody>
      </p:sp>
      <p:sp>
        <p:nvSpPr>
          <p:cNvPr id="17" name="Shape 15"/>
          <p:cNvSpPr/>
          <p:nvPr/>
        </p:nvSpPr>
        <p:spPr>
          <a:xfrm>
            <a:off x="4572000" y="3429000"/>
            <a:ext cx="3931920" cy="640080"/>
          </a:xfrm>
          <a:prstGeom prst="rect">
            <a:avLst/>
          </a:prstGeom>
          <a:solidFill>
            <a:srgbClr val="EEF0F4"/>
          </a:solidFill>
          <a:ln/>
          <a:effectLst>
            <a:outerShdw sx="100000" sy="100000" kx="0" ky="0" algn="bl" rotWithShape="0" blurRad="101600" dist="38100" dir="8100000">
              <a:srgbClr val="000000">
                <a:alpha val="10000"/>
              </a:srgbClr>
            </a:outerShdw>
          </a:effectLst>
        </p:spPr>
      </p:sp>
      <p:sp>
        <p:nvSpPr>
          <p:cNvPr id="18" name="Text 16"/>
          <p:cNvSpPr/>
          <p:nvPr/>
        </p:nvSpPr>
        <p:spPr>
          <a:xfrm>
            <a:off x="4572000" y="3520440"/>
            <a:ext cx="3931920" cy="457200"/>
          </a:xfrm>
          <a:prstGeom prst="rect">
            <a:avLst/>
          </a:prstGeom>
          <a:noFill/>
          <a:ln/>
        </p:spPr>
        <p:txBody>
          <a:bodyPr wrap="square" lIns="0" tIns="0" rIns="0" bIns="0" rtlCol="0" anchor="ctr"/>
          <a:lstStyle/>
          <a:p>
            <a:pPr algn="ctr" indent="0" marL="0">
              <a:buNone/>
            </a:pPr>
            <a:r>
              <a:rPr lang="en-US" sz="1500" dirty="0">
                <a:solidFill>
                  <a:srgbClr val="1A1F36"/>
                </a:solidFill>
                <a:latin typeface="Meiryo" pitchFamily="34" charset="0"/>
                <a:ea typeface="Meiryo" pitchFamily="34" charset="-122"/>
                <a:cs typeface="Meiryo" pitchFamily="34" charset="-120"/>
              </a:rPr>
              <a:t>開発特化のAIに任せる</a:t>
            </a:r>
            <a:endParaRPr lang="en-US" sz="1500" dirty="0"/>
          </a:p>
        </p:txBody>
      </p:sp>
      <p:sp>
        <p:nvSpPr>
          <p:cNvPr id="19" name="Text 17"/>
          <p:cNvSpPr/>
          <p:nvPr/>
        </p:nvSpPr>
        <p:spPr>
          <a:xfrm>
            <a:off x="3977640" y="3520440"/>
            <a:ext cx="548640" cy="457200"/>
          </a:xfrm>
          <a:prstGeom prst="rect">
            <a:avLst/>
          </a:prstGeom>
          <a:noFill/>
          <a:ln/>
        </p:spPr>
        <p:txBody>
          <a:bodyPr wrap="square" lIns="0" tIns="0" rIns="0" bIns="0" rtlCol="0" anchor="ctr"/>
          <a:lstStyle/>
          <a:p>
            <a:pPr algn="ctr" indent="0" marL="0">
              <a:buNone/>
            </a:pPr>
            <a:r>
              <a:rPr lang="en-US" sz="1800" dirty="0">
                <a:solidFill>
                  <a:srgbClr val="D4A843"/>
                </a:solidFill>
                <a:latin typeface="Meiryo" pitchFamily="34" charset="0"/>
                <a:ea typeface="Meiryo" pitchFamily="34" charset="-122"/>
                <a:cs typeface="Meiryo" pitchFamily="34" charset="-120"/>
              </a:rPr>
              <a:t>→</a:t>
            </a:r>
            <a:endParaRPr lang="en-US" sz="1800" dirty="0"/>
          </a:p>
        </p:txBody>
      </p:sp>
      <p:sp>
        <p:nvSpPr>
          <p:cNvPr id="20" name="Text 18"/>
          <p:cNvSpPr/>
          <p:nvPr/>
        </p:nvSpPr>
        <p:spPr>
          <a:xfrm>
            <a:off x="457200" y="4526280"/>
            <a:ext cx="8229600" cy="411480"/>
          </a:xfrm>
          <a:prstGeom prst="rect">
            <a:avLst/>
          </a:prstGeom>
          <a:noFill/>
          <a:ln/>
        </p:spPr>
        <p:txBody>
          <a:bodyPr wrap="square" lIns="0" tIns="0" rIns="0" bIns="0" rtlCol="0" anchor="ctr"/>
          <a:lstStyle/>
          <a:p>
            <a:pPr indent="0" marL="0">
              <a:buNone/>
            </a:pPr>
            <a:r>
              <a:rPr lang="en-US" sz="1300" i="1" dirty="0">
                <a:solidFill>
                  <a:srgbClr val="8892A4"/>
                </a:solidFill>
                <a:latin typeface="Meiryo" pitchFamily="34" charset="0"/>
                <a:ea typeface="Meiryo" pitchFamily="34" charset="-122"/>
                <a:cs typeface="Meiryo" pitchFamily="34" charset="-120"/>
              </a:rPr>
              <a:t>道具を使い分けることで、作業速度と質が大幅に上がる</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3つのツールを知る</a:t>
            </a:r>
            <a:endParaRPr lang="en-US" sz="2200" dirty="0"/>
          </a:p>
        </p:txBody>
      </p:sp>
      <p:sp>
        <p:nvSpPr>
          <p:cNvPr id="4" name="Shape 2"/>
          <p:cNvSpPr/>
          <p:nvPr/>
        </p:nvSpPr>
        <p:spPr>
          <a:xfrm>
            <a:off x="274320" y="914400"/>
            <a:ext cx="2743200" cy="39319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 name="Shape 3"/>
          <p:cNvSpPr/>
          <p:nvPr/>
        </p:nvSpPr>
        <p:spPr>
          <a:xfrm>
            <a:off x="274320" y="914400"/>
            <a:ext cx="2743200" cy="457200"/>
          </a:xfrm>
          <a:prstGeom prst="rect">
            <a:avLst/>
          </a:prstGeom>
          <a:solidFill>
            <a:srgbClr val="3B82C4"/>
          </a:solidFill>
          <a:ln/>
        </p:spPr>
      </p:sp>
      <p:sp>
        <p:nvSpPr>
          <p:cNvPr id="6" name="Text 4"/>
          <p:cNvSpPr/>
          <p:nvPr/>
        </p:nvSpPr>
        <p:spPr>
          <a:xfrm>
            <a:off x="274320" y="96012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Claude</a:t>
            </a:r>
            <a:endParaRPr lang="en-US" sz="1600" dirty="0"/>
          </a:p>
        </p:txBody>
      </p:sp>
      <p:sp>
        <p:nvSpPr>
          <p:cNvPr id="7" name="Text 5"/>
          <p:cNvSpPr/>
          <p:nvPr/>
        </p:nvSpPr>
        <p:spPr>
          <a:xfrm>
            <a:off x="274320" y="1463040"/>
            <a:ext cx="2743200" cy="365760"/>
          </a:xfrm>
          <a:prstGeom prst="rect">
            <a:avLst/>
          </a:prstGeom>
          <a:noFill/>
          <a:ln/>
        </p:spPr>
        <p:txBody>
          <a:bodyPr wrap="square" lIns="0" tIns="0" rIns="0" bIns="0" rtlCol="0" anchor="ctr"/>
          <a:lstStyle/>
          <a:p>
            <a:pPr algn="ctr" indent="0" marL="0">
              <a:buNone/>
            </a:pPr>
            <a:r>
              <a:rPr lang="en-US" sz="1100" dirty="0">
                <a:solidFill>
                  <a:srgbClr val="8892A4"/>
                </a:solidFill>
                <a:latin typeface="Meiryo" pitchFamily="34" charset="0"/>
                <a:ea typeface="Meiryo" pitchFamily="34" charset="-122"/>
                <a:cs typeface="Meiryo" pitchFamily="34" charset="-120"/>
              </a:rPr>
              <a:t>Claude（claude.ai）</a:t>
            </a:r>
            <a:endParaRPr lang="en-US" sz="1100" dirty="0"/>
          </a:p>
        </p:txBody>
      </p:sp>
      <p:sp>
        <p:nvSpPr>
          <p:cNvPr id="8" name="Shape 6"/>
          <p:cNvSpPr/>
          <p:nvPr/>
        </p:nvSpPr>
        <p:spPr>
          <a:xfrm>
            <a:off x="548640" y="1920240"/>
            <a:ext cx="2194560" cy="411480"/>
          </a:xfrm>
          <a:prstGeom prst="rect">
            <a:avLst/>
          </a:prstGeom>
          <a:solidFill>
            <a:srgbClr val="3B82C4">
              <a:alpha val="20000"/>
            </a:srgbClr>
          </a:solidFill>
          <a:ln/>
        </p:spPr>
      </p:sp>
      <p:sp>
        <p:nvSpPr>
          <p:cNvPr id="9" name="Text 7"/>
          <p:cNvSpPr/>
          <p:nvPr/>
        </p:nvSpPr>
        <p:spPr>
          <a:xfrm>
            <a:off x="548640" y="1965960"/>
            <a:ext cx="2194560" cy="320040"/>
          </a:xfrm>
          <a:prstGeom prst="rect">
            <a:avLst/>
          </a:prstGeom>
          <a:noFill/>
          <a:ln/>
        </p:spPr>
        <p:txBody>
          <a:bodyPr wrap="square" lIns="0" tIns="0" rIns="0" bIns="0" rtlCol="0" anchor="ctr"/>
          <a:lstStyle/>
          <a:p>
            <a:pPr algn="ctr" indent="0" marL="0">
              <a:buNone/>
            </a:pPr>
            <a:r>
              <a:rPr lang="en-US" sz="1200" b="1" dirty="0">
                <a:solidFill>
                  <a:srgbClr val="3B82C4"/>
                </a:solidFill>
                <a:latin typeface="Meiryo" pitchFamily="34" charset="0"/>
                <a:ea typeface="Meiryo" pitchFamily="34" charset="-122"/>
                <a:cs typeface="Meiryo" pitchFamily="34" charset="-120"/>
              </a:rPr>
              <a:t>設計・相談・文章</a:t>
            </a:r>
            <a:endParaRPr lang="en-US" sz="1200" dirty="0"/>
          </a:p>
        </p:txBody>
      </p:sp>
      <p:sp>
        <p:nvSpPr>
          <p:cNvPr id="10" name="Text 8"/>
          <p:cNvSpPr/>
          <p:nvPr/>
        </p:nvSpPr>
        <p:spPr>
          <a:xfrm>
            <a:off x="457200" y="2468880"/>
            <a:ext cx="2377440" cy="12801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アイデアの整理、原稿作成、</a:t>
            </a:r>
            <a:endParaRPr lang="en-US" sz="1300" dirty="0"/>
          </a:p>
          <a:p>
            <a:pPr indent="0" marL="0">
              <a:buNone/>
            </a:pPr>
            <a:r>
              <a:rPr lang="en-US" sz="1300" dirty="0">
                <a:solidFill>
                  <a:srgbClr val="1A1F36"/>
                </a:solidFill>
                <a:latin typeface="Meiryo" pitchFamily="34" charset="0"/>
                <a:ea typeface="Meiryo" pitchFamily="34" charset="-122"/>
                <a:cs typeface="Meiryo" pitchFamily="34" charset="-120"/>
              </a:rPr>
              <a:t>戦略の壁打ちが得意</a:t>
            </a:r>
            <a:endParaRPr lang="en-US" sz="1300" dirty="0"/>
          </a:p>
        </p:txBody>
      </p:sp>
      <p:sp>
        <p:nvSpPr>
          <p:cNvPr id="11" name="Shape 9"/>
          <p:cNvSpPr/>
          <p:nvPr/>
        </p:nvSpPr>
        <p:spPr>
          <a:xfrm>
            <a:off x="3200400" y="914400"/>
            <a:ext cx="2743200" cy="39319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10"/>
          <p:cNvSpPr/>
          <p:nvPr/>
        </p:nvSpPr>
        <p:spPr>
          <a:xfrm>
            <a:off x="3200400" y="914400"/>
            <a:ext cx="2743200" cy="457200"/>
          </a:xfrm>
          <a:prstGeom prst="rect">
            <a:avLst/>
          </a:prstGeom>
          <a:solidFill>
            <a:srgbClr val="2E8B57"/>
          </a:solidFill>
          <a:ln/>
        </p:spPr>
      </p:sp>
      <p:sp>
        <p:nvSpPr>
          <p:cNvPr id="13" name="Text 11"/>
          <p:cNvSpPr/>
          <p:nvPr/>
        </p:nvSpPr>
        <p:spPr>
          <a:xfrm>
            <a:off x="3200400" y="96012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Claude Code</a:t>
            </a:r>
            <a:endParaRPr lang="en-US" sz="1600" dirty="0"/>
          </a:p>
        </p:txBody>
      </p:sp>
      <p:sp>
        <p:nvSpPr>
          <p:cNvPr id="14" name="Text 12"/>
          <p:cNvSpPr/>
          <p:nvPr/>
        </p:nvSpPr>
        <p:spPr>
          <a:xfrm>
            <a:off x="3200400" y="1463040"/>
            <a:ext cx="2743200" cy="365760"/>
          </a:xfrm>
          <a:prstGeom prst="rect">
            <a:avLst/>
          </a:prstGeom>
          <a:noFill/>
          <a:ln/>
        </p:spPr>
        <p:txBody>
          <a:bodyPr wrap="square" lIns="0" tIns="0" rIns="0" bIns="0" rtlCol="0" anchor="ctr"/>
          <a:lstStyle/>
          <a:p>
            <a:pPr algn="ctr" indent="0" marL="0">
              <a:buNone/>
            </a:pPr>
            <a:r>
              <a:rPr lang="en-US" sz="1100" dirty="0">
                <a:solidFill>
                  <a:srgbClr val="8892A4"/>
                </a:solidFill>
                <a:latin typeface="Meiryo" pitchFamily="34" charset="0"/>
                <a:ea typeface="Meiryo" pitchFamily="34" charset="-122"/>
                <a:cs typeface="Meiryo" pitchFamily="34" charset="-120"/>
              </a:rPr>
              <a:t>Claude Code（ターミナル）</a:t>
            </a:r>
            <a:endParaRPr lang="en-US" sz="1100" dirty="0"/>
          </a:p>
        </p:txBody>
      </p:sp>
      <p:sp>
        <p:nvSpPr>
          <p:cNvPr id="15" name="Shape 13"/>
          <p:cNvSpPr/>
          <p:nvPr/>
        </p:nvSpPr>
        <p:spPr>
          <a:xfrm>
            <a:off x="3474720" y="1920240"/>
            <a:ext cx="2194560" cy="411480"/>
          </a:xfrm>
          <a:prstGeom prst="rect">
            <a:avLst/>
          </a:prstGeom>
          <a:solidFill>
            <a:srgbClr val="2E8B57">
              <a:alpha val="20000"/>
            </a:srgbClr>
          </a:solidFill>
          <a:ln/>
        </p:spPr>
      </p:sp>
      <p:sp>
        <p:nvSpPr>
          <p:cNvPr id="16" name="Text 14"/>
          <p:cNvSpPr/>
          <p:nvPr/>
        </p:nvSpPr>
        <p:spPr>
          <a:xfrm>
            <a:off x="3474720" y="1965960"/>
            <a:ext cx="2194560" cy="320040"/>
          </a:xfrm>
          <a:prstGeom prst="rect">
            <a:avLst/>
          </a:prstGeom>
          <a:noFill/>
          <a:ln/>
        </p:spPr>
        <p:txBody>
          <a:bodyPr wrap="square" lIns="0" tIns="0" rIns="0" bIns="0" rtlCol="0" anchor="ctr"/>
          <a:lstStyle/>
          <a:p>
            <a:pPr algn="ctr" indent="0" marL="0">
              <a:buNone/>
            </a:pPr>
            <a:r>
              <a:rPr lang="en-US" sz="1200" b="1" dirty="0">
                <a:solidFill>
                  <a:srgbClr val="2E8B57"/>
                </a:solidFill>
                <a:latin typeface="Meiryo" pitchFamily="34" charset="0"/>
                <a:ea typeface="Meiryo" pitchFamily="34" charset="-122"/>
                <a:cs typeface="Meiryo" pitchFamily="34" charset="-120"/>
              </a:rPr>
              <a:t>既存コードの修正</a:t>
            </a:r>
            <a:endParaRPr lang="en-US" sz="1200" dirty="0"/>
          </a:p>
        </p:txBody>
      </p:sp>
      <p:sp>
        <p:nvSpPr>
          <p:cNvPr id="17" name="Text 15"/>
          <p:cNvSpPr/>
          <p:nvPr/>
        </p:nvSpPr>
        <p:spPr>
          <a:xfrm>
            <a:off x="3383280" y="2468880"/>
            <a:ext cx="2377440" cy="12801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既存アプリのバグ修正や</a:t>
            </a:r>
            <a:endParaRPr lang="en-US" sz="1300" dirty="0"/>
          </a:p>
          <a:p>
            <a:pPr indent="0" marL="0">
              <a:buNone/>
            </a:pPr>
            <a:r>
              <a:rPr lang="en-US" sz="1300" dirty="0">
                <a:solidFill>
                  <a:srgbClr val="1A1F36"/>
                </a:solidFill>
                <a:latin typeface="Meiryo" pitchFamily="34" charset="0"/>
                <a:ea typeface="Meiryo" pitchFamily="34" charset="-122"/>
                <a:cs typeface="Meiryo" pitchFamily="34" charset="-120"/>
              </a:rPr>
              <a:t>精密なコード編集が得意</a:t>
            </a:r>
            <a:endParaRPr lang="en-US" sz="1300" dirty="0"/>
          </a:p>
        </p:txBody>
      </p:sp>
      <p:sp>
        <p:nvSpPr>
          <p:cNvPr id="18" name="Shape 16"/>
          <p:cNvSpPr/>
          <p:nvPr/>
        </p:nvSpPr>
        <p:spPr>
          <a:xfrm>
            <a:off x="6126480" y="914400"/>
            <a:ext cx="2743200" cy="39319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9" name="Shape 17"/>
          <p:cNvSpPr/>
          <p:nvPr/>
        </p:nvSpPr>
        <p:spPr>
          <a:xfrm>
            <a:off x="6126480" y="914400"/>
            <a:ext cx="2743200" cy="457200"/>
          </a:xfrm>
          <a:prstGeom prst="rect">
            <a:avLst/>
          </a:prstGeom>
          <a:solidFill>
            <a:srgbClr val="D97706"/>
          </a:solidFill>
          <a:ln/>
        </p:spPr>
      </p:sp>
      <p:sp>
        <p:nvSpPr>
          <p:cNvPr id="20" name="Text 18"/>
          <p:cNvSpPr/>
          <p:nvPr/>
        </p:nvSpPr>
        <p:spPr>
          <a:xfrm>
            <a:off x="6126480" y="96012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Antigravity</a:t>
            </a:r>
            <a:endParaRPr lang="en-US" sz="1600" dirty="0"/>
          </a:p>
        </p:txBody>
      </p:sp>
      <p:sp>
        <p:nvSpPr>
          <p:cNvPr id="21" name="Text 19"/>
          <p:cNvSpPr/>
          <p:nvPr/>
        </p:nvSpPr>
        <p:spPr>
          <a:xfrm>
            <a:off x="6126480" y="1463040"/>
            <a:ext cx="2743200" cy="365760"/>
          </a:xfrm>
          <a:prstGeom prst="rect">
            <a:avLst/>
          </a:prstGeom>
          <a:noFill/>
          <a:ln/>
        </p:spPr>
        <p:txBody>
          <a:bodyPr wrap="square" lIns="0" tIns="0" rIns="0" bIns="0" rtlCol="0" anchor="ctr"/>
          <a:lstStyle/>
          <a:p>
            <a:pPr algn="ctr" indent="0" marL="0">
              <a:buNone/>
            </a:pPr>
            <a:r>
              <a:rPr lang="en-US" sz="1100" dirty="0">
                <a:solidFill>
                  <a:srgbClr val="8892A4"/>
                </a:solidFill>
                <a:latin typeface="Meiryo" pitchFamily="34" charset="0"/>
                <a:ea typeface="Meiryo" pitchFamily="34" charset="-122"/>
                <a:cs typeface="Meiryo" pitchFamily="34" charset="-120"/>
              </a:rPr>
              <a:t>Google AIエージェント</a:t>
            </a:r>
            <a:endParaRPr lang="en-US" sz="1100" dirty="0"/>
          </a:p>
        </p:txBody>
      </p:sp>
      <p:sp>
        <p:nvSpPr>
          <p:cNvPr id="22" name="Shape 20"/>
          <p:cNvSpPr/>
          <p:nvPr/>
        </p:nvSpPr>
        <p:spPr>
          <a:xfrm>
            <a:off x="6400800" y="1920240"/>
            <a:ext cx="2194560" cy="411480"/>
          </a:xfrm>
          <a:prstGeom prst="rect">
            <a:avLst/>
          </a:prstGeom>
          <a:solidFill>
            <a:srgbClr val="D97706">
              <a:alpha val="20000"/>
            </a:srgbClr>
          </a:solidFill>
          <a:ln/>
        </p:spPr>
      </p:sp>
      <p:sp>
        <p:nvSpPr>
          <p:cNvPr id="23" name="Text 21"/>
          <p:cNvSpPr/>
          <p:nvPr/>
        </p:nvSpPr>
        <p:spPr>
          <a:xfrm>
            <a:off x="6400800" y="1965960"/>
            <a:ext cx="2194560" cy="320040"/>
          </a:xfrm>
          <a:prstGeom prst="rect">
            <a:avLst/>
          </a:prstGeom>
          <a:noFill/>
          <a:ln/>
        </p:spPr>
        <p:txBody>
          <a:bodyPr wrap="square" lIns="0" tIns="0" rIns="0" bIns="0" rtlCol="0" anchor="ctr"/>
          <a:lstStyle/>
          <a:p>
            <a:pPr algn="ctr" indent="0" marL="0">
              <a:buNone/>
            </a:pPr>
            <a:r>
              <a:rPr lang="en-US" sz="1200" b="1" dirty="0">
                <a:solidFill>
                  <a:srgbClr val="D97706"/>
                </a:solidFill>
                <a:latin typeface="Meiryo" pitchFamily="34" charset="0"/>
                <a:ea typeface="Meiryo" pitchFamily="34" charset="-122"/>
                <a:cs typeface="Meiryo" pitchFamily="34" charset="-120"/>
              </a:rPr>
              <a:t>新規アプリ開発</a:t>
            </a:r>
            <a:endParaRPr lang="en-US" sz="1200" dirty="0"/>
          </a:p>
        </p:txBody>
      </p:sp>
      <p:sp>
        <p:nvSpPr>
          <p:cNvPr id="24" name="Text 22"/>
          <p:cNvSpPr/>
          <p:nvPr/>
        </p:nvSpPr>
        <p:spPr>
          <a:xfrm>
            <a:off x="6309360" y="2468880"/>
            <a:ext cx="2377440" cy="12801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新しいアプリをゼロから</a:t>
            </a:r>
            <a:endParaRPr lang="en-US" sz="1300" dirty="0"/>
          </a:p>
          <a:p>
            <a:pPr indent="0" marL="0">
              <a:buNone/>
            </a:pPr>
            <a:r>
              <a:rPr lang="en-US" sz="1300" dirty="0">
                <a:solidFill>
                  <a:srgbClr val="1A1F36"/>
                </a:solidFill>
                <a:latin typeface="Meiryo" pitchFamily="34" charset="0"/>
                <a:ea typeface="Meiryo" pitchFamily="34" charset="-122"/>
                <a:cs typeface="Meiryo" pitchFamily="34" charset="-120"/>
              </a:rPr>
              <a:t>ファイル一式で作れる</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82C4"/>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Claude（Claude）の使い方</a:t>
            </a:r>
            <a:endParaRPr lang="en-US" sz="22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indent="0" marL="0">
              <a:buNone/>
            </a:pPr>
            <a:r>
              <a:rPr lang="en-US" sz="1300" dirty="0">
                <a:solidFill>
                  <a:srgbClr val="8892A4"/>
                </a:solidFill>
                <a:latin typeface="Meiryo" pitchFamily="34" charset="0"/>
                <a:ea typeface="Meiryo" pitchFamily="34" charset="-122"/>
                <a:cs typeface="Meiryo" pitchFamily="34" charset="-120"/>
              </a:rPr>
              <a:t>アクセス：claude.ai / Claude アプリ</a:t>
            </a:r>
            <a:endParaRPr lang="en-US" sz="1300" dirty="0"/>
          </a:p>
        </p:txBody>
      </p:sp>
      <p:sp>
        <p:nvSpPr>
          <p:cNvPr id="5" name="Shape 3"/>
          <p:cNvSpPr/>
          <p:nvPr/>
        </p:nvSpPr>
        <p:spPr>
          <a:xfrm>
            <a:off x="457200" y="1463040"/>
            <a:ext cx="347472" cy="347472"/>
          </a:xfrm>
          <a:prstGeom prst="rect">
            <a:avLst/>
          </a:prstGeom>
          <a:solidFill>
            <a:srgbClr val="3B82C4"/>
          </a:solidFill>
          <a:ln/>
        </p:spPr>
      </p:sp>
      <p:sp>
        <p:nvSpPr>
          <p:cNvPr id="6" name="Text 4"/>
          <p:cNvSpPr/>
          <p:nvPr/>
        </p:nvSpPr>
        <p:spPr>
          <a:xfrm>
            <a:off x="457200" y="1481328"/>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p:nvPr/>
        </p:nvSpPr>
        <p:spPr>
          <a:xfrm>
            <a:off x="960120" y="1499616"/>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Stand.fm・note の原稿を書いてもらう</a:t>
            </a:r>
            <a:endParaRPr lang="en-US" sz="1400" dirty="0"/>
          </a:p>
        </p:txBody>
      </p:sp>
      <p:sp>
        <p:nvSpPr>
          <p:cNvPr id="8" name="Shape 6"/>
          <p:cNvSpPr/>
          <p:nvPr/>
        </p:nvSpPr>
        <p:spPr>
          <a:xfrm>
            <a:off x="457200" y="2121408"/>
            <a:ext cx="347472" cy="347472"/>
          </a:xfrm>
          <a:prstGeom prst="rect">
            <a:avLst/>
          </a:prstGeom>
          <a:solidFill>
            <a:srgbClr val="3B82C4"/>
          </a:solidFill>
          <a:ln/>
        </p:spPr>
      </p:sp>
      <p:sp>
        <p:nvSpPr>
          <p:cNvPr id="9" name="Text 7"/>
          <p:cNvSpPr/>
          <p:nvPr/>
        </p:nvSpPr>
        <p:spPr>
          <a:xfrm>
            <a:off x="457200" y="2139696"/>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0" name="Text 8"/>
          <p:cNvSpPr/>
          <p:nvPr/>
        </p:nvSpPr>
        <p:spPr>
          <a:xfrm>
            <a:off x="960120" y="2157984"/>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新しいアプリの設計・構成をまず相談する</a:t>
            </a:r>
            <a:endParaRPr lang="en-US" sz="1400" dirty="0"/>
          </a:p>
        </p:txBody>
      </p:sp>
      <p:sp>
        <p:nvSpPr>
          <p:cNvPr id="11" name="Shape 9"/>
          <p:cNvSpPr/>
          <p:nvPr/>
        </p:nvSpPr>
        <p:spPr>
          <a:xfrm>
            <a:off x="457200" y="2779776"/>
            <a:ext cx="347472" cy="347472"/>
          </a:xfrm>
          <a:prstGeom prst="rect">
            <a:avLst/>
          </a:prstGeom>
          <a:solidFill>
            <a:srgbClr val="3B82C4"/>
          </a:solidFill>
          <a:ln/>
        </p:spPr>
      </p:sp>
      <p:sp>
        <p:nvSpPr>
          <p:cNvPr id="12" name="Text 10"/>
          <p:cNvSpPr/>
          <p:nvPr/>
        </p:nvSpPr>
        <p:spPr>
          <a:xfrm>
            <a:off x="457200" y="2798064"/>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3" name="Text 11"/>
          <p:cNvSpPr/>
          <p:nvPr/>
        </p:nvSpPr>
        <p:spPr>
          <a:xfrm>
            <a:off x="960120" y="2816352"/>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プロンプトの設計・改善を依頼する</a:t>
            </a:r>
            <a:endParaRPr lang="en-US" sz="1400" dirty="0"/>
          </a:p>
        </p:txBody>
      </p:sp>
      <p:sp>
        <p:nvSpPr>
          <p:cNvPr id="14" name="Shape 12"/>
          <p:cNvSpPr/>
          <p:nvPr/>
        </p:nvSpPr>
        <p:spPr>
          <a:xfrm>
            <a:off x="457200" y="3438144"/>
            <a:ext cx="347472" cy="347472"/>
          </a:xfrm>
          <a:prstGeom prst="rect">
            <a:avLst/>
          </a:prstGeom>
          <a:solidFill>
            <a:srgbClr val="3B82C4"/>
          </a:solidFill>
          <a:ln/>
        </p:spPr>
      </p:sp>
      <p:sp>
        <p:nvSpPr>
          <p:cNvPr id="15" name="Text 13"/>
          <p:cNvSpPr/>
          <p:nvPr/>
        </p:nvSpPr>
        <p:spPr>
          <a:xfrm>
            <a:off x="457200" y="3456432"/>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6" name="Text 14"/>
          <p:cNvSpPr/>
          <p:nvPr/>
        </p:nvSpPr>
        <p:spPr>
          <a:xfrm>
            <a:off x="960120" y="3474720"/>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資料や情報の整理・要約をお願いする</a:t>
            </a:r>
            <a:endParaRPr lang="en-US" sz="1400" dirty="0"/>
          </a:p>
        </p:txBody>
      </p:sp>
      <p:sp>
        <p:nvSpPr>
          <p:cNvPr id="17" name="Shape 15"/>
          <p:cNvSpPr/>
          <p:nvPr/>
        </p:nvSpPr>
        <p:spPr>
          <a:xfrm>
            <a:off x="457200" y="4096512"/>
            <a:ext cx="347472" cy="347472"/>
          </a:xfrm>
          <a:prstGeom prst="rect">
            <a:avLst/>
          </a:prstGeom>
          <a:solidFill>
            <a:srgbClr val="3B82C4"/>
          </a:solidFill>
          <a:ln/>
        </p:spPr>
      </p:sp>
      <p:sp>
        <p:nvSpPr>
          <p:cNvPr id="18" name="Text 16"/>
          <p:cNvSpPr/>
          <p:nvPr/>
        </p:nvSpPr>
        <p:spPr>
          <a:xfrm>
            <a:off x="457200" y="4114800"/>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9" name="Text 17"/>
          <p:cNvSpPr/>
          <p:nvPr/>
        </p:nvSpPr>
        <p:spPr>
          <a:xfrm>
            <a:off x="960120" y="4133088"/>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コーチング講座の台本・構成を作ってもらう</a:t>
            </a:r>
            <a:endParaRPr lang="en-US" sz="1400" dirty="0"/>
          </a:p>
        </p:txBody>
      </p:sp>
      <p:sp>
        <p:nvSpPr>
          <p:cNvPr id="20" name="Shape 18"/>
          <p:cNvSpPr/>
          <p:nvPr/>
        </p:nvSpPr>
        <p:spPr>
          <a:xfrm>
            <a:off x="457200" y="4663440"/>
            <a:ext cx="8229600" cy="320040"/>
          </a:xfrm>
          <a:prstGeom prst="rect">
            <a:avLst/>
          </a:prstGeom>
          <a:solidFill>
            <a:srgbClr val="3B82C4">
              <a:alpha val="15000"/>
            </a:srgbClr>
          </a:solidFill>
          <a:ln/>
        </p:spPr>
      </p:sp>
      <p:sp>
        <p:nvSpPr>
          <p:cNvPr id="21" name="Text 19"/>
          <p:cNvSpPr/>
          <p:nvPr/>
        </p:nvSpPr>
        <p:spPr>
          <a:xfrm>
            <a:off x="548640" y="4681728"/>
            <a:ext cx="8046720" cy="274320"/>
          </a:xfrm>
          <a:prstGeom prst="rect">
            <a:avLst/>
          </a:prstGeom>
          <a:noFill/>
          <a:ln/>
        </p:spPr>
        <p:txBody>
          <a:bodyPr wrap="square" lIns="0" tIns="0" rIns="0" bIns="0" rtlCol="0" anchor="ctr"/>
          <a:lstStyle/>
          <a:p>
            <a:pPr indent="0" marL="0">
              <a:buNone/>
            </a:pPr>
            <a:r>
              <a:rPr lang="en-US" sz="1200" i="1" dirty="0">
                <a:solidFill>
                  <a:srgbClr val="3B82C4"/>
                </a:solidFill>
                <a:latin typeface="Meiryo" pitchFamily="34" charset="0"/>
                <a:ea typeface="Meiryo" pitchFamily="34" charset="-122"/>
                <a:cs typeface="Meiryo" pitchFamily="34" charset="-120"/>
              </a:rPr>
              <a:t>コツ：「〇〇を作りたい。どんな構成がいいか相談したい」と最初に言うと整理しやすい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8B57"/>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Claude Code（Claude Code）の使い方</a:t>
            </a:r>
            <a:endParaRPr lang="en-US" sz="22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indent="0" marL="0">
              <a:buNone/>
            </a:pPr>
            <a:r>
              <a:rPr lang="en-US" sz="1300" dirty="0">
                <a:solidFill>
                  <a:srgbClr val="8892A4"/>
                </a:solidFill>
                <a:latin typeface="Meiryo" pitchFamily="34" charset="0"/>
                <a:ea typeface="Meiryo" pitchFamily="34" charset="-122"/>
                <a:cs typeface="Meiryo" pitchFamily="34" charset="-120"/>
              </a:rPr>
              <a:t>アクセス：ターミナル（PowerShell / VSCode）で起動</a:t>
            </a:r>
            <a:endParaRPr lang="en-US" sz="1300" dirty="0"/>
          </a:p>
        </p:txBody>
      </p:sp>
      <p:sp>
        <p:nvSpPr>
          <p:cNvPr id="5" name="Shape 3"/>
          <p:cNvSpPr/>
          <p:nvPr/>
        </p:nvSpPr>
        <p:spPr>
          <a:xfrm>
            <a:off x="457200" y="1463040"/>
            <a:ext cx="347472" cy="347472"/>
          </a:xfrm>
          <a:prstGeom prst="rect">
            <a:avLst/>
          </a:prstGeom>
          <a:solidFill>
            <a:srgbClr val="2E8B57"/>
          </a:solidFill>
          <a:ln/>
        </p:spPr>
      </p:sp>
      <p:sp>
        <p:nvSpPr>
          <p:cNvPr id="6" name="Text 4"/>
          <p:cNvSpPr/>
          <p:nvPr/>
        </p:nvSpPr>
        <p:spPr>
          <a:xfrm>
            <a:off x="457200" y="1481328"/>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p:nvPr/>
        </p:nvSpPr>
        <p:spPr>
          <a:xfrm>
            <a:off x="960120" y="1499616"/>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既存のアプリにバグが出たとき、コードを直してもらう</a:t>
            </a:r>
            <a:endParaRPr lang="en-US" sz="1400" dirty="0"/>
          </a:p>
        </p:txBody>
      </p:sp>
      <p:sp>
        <p:nvSpPr>
          <p:cNvPr id="8" name="Shape 6"/>
          <p:cNvSpPr/>
          <p:nvPr/>
        </p:nvSpPr>
        <p:spPr>
          <a:xfrm>
            <a:off x="457200" y="2176272"/>
            <a:ext cx="347472" cy="347472"/>
          </a:xfrm>
          <a:prstGeom prst="rect">
            <a:avLst/>
          </a:prstGeom>
          <a:solidFill>
            <a:srgbClr val="2E8B57"/>
          </a:solidFill>
          <a:ln/>
        </p:spPr>
      </p:sp>
      <p:sp>
        <p:nvSpPr>
          <p:cNvPr id="9" name="Text 7"/>
          <p:cNvSpPr/>
          <p:nvPr/>
        </p:nvSpPr>
        <p:spPr>
          <a:xfrm>
            <a:off x="457200" y="2194560"/>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0" name="Text 8"/>
          <p:cNvSpPr/>
          <p:nvPr/>
        </p:nvSpPr>
        <p:spPr>
          <a:xfrm>
            <a:off x="960120" y="2212848"/>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ファイルの特定の箇所だけ書き換えたいとき</a:t>
            </a:r>
            <a:endParaRPr lang="en-US" sz="1400" dirty="0"/>
          </a:p>
        </p:txBody>
      </p:sp>
      <p:sp>
        <p:nvSpPr>
          <p:cNvPr id="11" name="Shape 9"/>
          <p:cNvSpPr/>
          <p:nvPr/>
        </p:nvSpPr>
        <p:spPr>
          <a:xfrm>
            <a:off x="457200" y="2889504"/>
            <a:ext cx="347472" cy="347472"/>
          </a:xfrm>
          <a:prstGeom prst="rect">
            <a:avLst/>
          </a:prstGeom>
          <a:solidFill>
            <a:srgbClr val="2E8B57"/>
          </a:solidFill>
          <a:ln/>
        </p:spPr>
      </p:sp>
      <p:sp>
        <p:nvSpPr>
          <p:cNvPr id="12" name="Text 10"/>
          <p:cNvSpPr/>
          <p:nvPr/>
        </p:nvSpPr>
        <p:spPr>
          <a:xfrm>
            <a:off x="457200" y="2907792"/>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3" name="Text 11"/>
          <p:cNvSpPr/>
          <p:nvPr/>
        </p:nvSpPr>
        <p:spPr>
          <a:xfrm>
            <a:off x="960120" y="2926080"/>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サーバー上のファイルを操作・確認したいとき</a:t>
            </a:r>
            <a:endParaRPr lang="en-US" sz="1400" dirty="0"/>
          </a:p>
        </p:txBody>
      </p:sp>
      <p:sp>
        <p:nvSpPr>
          <p:cNvPr id="14" name="Shape 12"/>
          <p:cNvSpPr/>
          <p:nvPr/>
        </p:nvSpPr>
        <p:spPr>
          <a:xfrm>
            <a:off x="457200" y="3602736"/>
            <a:ext cx="347472" cy="347472"/>
          </a:xfrm>
          <a:prstGeom prst="rect">
            <a:avLst/>
          </a:prstGeom>
          <a:solidFill>
            <a:srgbClr val="2E8B57"/>
          </a:solidFill>
          <a:ln/>
        </p:spPr>
      </p:sp>
      <p:sp>
        <p:nvSpPr>
          <p:cNvPr id="15" name="Text 13"/>
          <p:cNvSpPr/>
          <p:nvPr/>
        </p:nvSpPr>
        <p:spPr>
          <a:xfrm>
            <a:off x="457200" y="3621024"/>
            <a:ext cx="3474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6" name="Text 14"/>
          <p:cNvSpPr/>
          <p:nvPr/>
        </p:nvSpPr>
        <p:spPr>
          <a:xfrm>
            <a:off x="960120" y="3639312"/>
            <a:ext cx="7680960" cy="3200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細かいデバッグ・テストをしたいとき</a:t>
            </a:r>
            <a:endParaRPr lang="en-US" sz="1400" dirty="0"/>
          </a:p>
        </p:txBody>
      </p:sp>
      <p:sp>
        <p:nvSpPr>
          <p:cNvPr id="17" name="Shape 15"/>
          <p:cNvSpPr/>
          <p:nvPr/>
        </p:nvSpPr>
        <p:spPr>
          <a:xfrm>
            <a:off x="457200" y="4572000"/>
            <a:ext cx="8229600" cy="411480"/>
          </a:xfrm>
          <a:prstGeom prst="rect">
            <a:avLst/>
          </a:prstGeom>
          <a:solidFill>
            <a:srgbClr val="2E8B57">
              <a:alpha val="15000"/>
            </a:srgbClr>
          </a:solidFill>
          <a:ln/>
        </p:spPr>
      </p:sp>
      <p:sp>
        <p:nvSpPr>
          <p:cNvPr id="18" name="Text 16"/>
          <p:cNvSpPr/>
          <p:nvPr/>
        </p:nvSpPr>
        <p:spPr>
          <a:xfrm>
            <a:off x="548640" y="4617720"/>
            <a:ext cx="8046720" cy="320040"/>
          </a:xfrm>
          <a:prstGeom prst="rect">
            <a:avLst/>
          </a:prstGeom>
          <a:noFill/>
          <a:ln/>
        </p:spPr>
        <p:txBody>
          <a:bodyPr wrap="square" lIns="0" tIns="0" rIns="0" bIns="0" rtlCol="0" anchor="ctr"/>
          <a:lstStyle/>
          <a:p>
            <a:pPr indent="0" marL="0">
              <a:buNone/>
            </a:pPr>
            <a:r>
              <a:rPr lang="en-US" sz="1200" i="1" dirty="0">
                <a:solidFill>
                  <a:srgbClr val="2E8B57"/>
                </a:solidFill>
                <a:latin typeface="Meiryo" pitchFamily="34" charset="0"/>
                <a:ea typeface="Meiryo" pitchFamily="34" charset="-122"/>
                <a:cs typeface="Meiryo" pitchFamily="34" charset="-120"/>
              </a:rPr>
              <a:t>コツ：「〇〇ファイルの△△の部分を直して」と、場所を具体的に伝えると速い</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D97706"/>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Antigravityの使い方</a:t>
            </a:r>
            <a:endParaRPr lang="en-US" sz="22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indent="0" marL="0">
              <a:buNone/>
            </a:pPr>
            <a:r>
              <a:rPr lang="en-US" sz="1300" dirty="0">
                <a:solidFill>
                  <a:srgbClr val="8892A4"/>
                </a:solidFill>
                <a:latin typeface="Meiryo" pitchFamily="34" charset="0"/>
                <a:ea typeface="Meiryo" pitchFamily="34" charset="-122"/>
                <a:cs typeface="Meiryo" pitchFamily="34" charset="-120"/>
              </a:rPr>
              <a:t>アクセス：antigravity.google　（Gemini 2.5 Pro 搭載）</a:t>
            </a:r>
            <a:endParaRPr lang="en-US" sz="1300" dirty="0"/>
          </a:p>
        </p:txBody>
      </p:sp>
      <p:sp>
        <p:nvSpPr>
          <p:cNvPr id="5" name="Shape 3"/>
          <p:cNvSpPr/>
          <p:nvPr/>
        </p:nvSpPr>
        <p:spPr>
          <a:xfrm>
            <a:off x="457200" y="1463040"/>
            <a:ext cx="2926080" cy="594360"/>
          </a:xfrm>
          <a:prstGeom prst="rect">
            <a:avLst/>
          </a:prstGeom>
          <a:solidFill>
            <a:srgbClr val="D97706"/>
          </a:solidFill>
          <a:ln/>
          <a:effectLst>
            <a:outerShdw sx="100000" sy="100000" kx="0" ky="0" algn="bl" rotWithShape="0" blurRad="101600" dist="38100" dir="8100000">
              <a:srgbClr val="000000">
                <a:alpha val="10000"/>
              </a:srgbClr>
            </a:outerShdw>
          </a:effectLst>
        </p:spPr>
      </p:sp>
      <p:sp>
        <p:nvSpPr>
          <p:cNvPr id="6" name="Text 4"/>
          <p:cNvSpPr/>
          <p:nvPr/>
        </p:nvSpPr>
        <p:spPr>
          <a:xfrm>
            <a:off x="457200" y="155448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左ペインでファイル管理</a:t>
            </a:r>
            <a:endParaRPr lang="en-US" sz="1300" dirty="0"/>
          </a:p>
        </p:txBody>
      </p:sp>
      <p:sp>
        <p:nvSpPr>
          <p:cNvPr id="7" name="Text 5"/>
          <p:cNvSpPr/>
          <p:nvPr/>
        </p:nvSpPr>
        <p:spPr>
          <a:xfrm>
            <a:off x="3566160" y="1554480"/>
            <a:ext cx="5212080" cy="41148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作成されたファイルをその場で確認・編集できる</a:t>
            </a:r>
            <a:endParaRPr lang="en-US" sz="1300" dirty="0"/>
          </a:p>
        </p:txBody>
      </p:sp>
      <p:sp>
        <p:nvSpPr>
          <p:cNvPr id="8" name="Shape 6"/>
          <p:cNvSpPr/>
          <p:nvPr/>
        </p:nvSpPr>
        <p:spPr>
          <a:xfrm>
            <a:off x="457200" y="2286000"/>
            <a:ext cx="2926080" cy="594360"/>
          </a:xfrm>
          <a:prstGeom prst="rect">
            <a:avLst/>
          </a:prstGeom>
          <a:solidFill>
            <a:srgbClr val="D97706"/>
          </a:solidFill>
          <a:ln/>
          <a:effectLst>
            <a:outerShdw sx="100000" sy="100000" kx="0" ky="0" algn="bl" rotWithShape="0" blurRad="101600" dist="38100" dir="8100000">
              <a:srgbClr val="000000">
                <a:alpha val="10000"/>
              </a:srgbClr>
            </a:outerShdw>
          </a:effectLst>
        </p:spPr>
      </p:sp>
      <p:sp>
        <p:nvSpPr>
          <p:cNvPr id="9" name="Text 7"/>
          <p:cNvSpPr/>
          <p:nvPr/>
        </p:nvSpPr>
        <p:spPr>
          <a:xfrm>
            <a:off x="457200" y="237744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チャットで指示するだけ</a:t>
            </a:r>
            <a:endParaRPr lang="en-US" sz="1300" dirty="0"/>
          </a:p>
        </p:txBody>
      </p:sp>
      <p:sp>
        <p:nvSpPr>
          <p:cNvPr id="10" name="Text 8"/>
          <p:cNvSpPr/>
          <p:nvPr/>
        </p:nvSpPr>
        <p:spPr>
          <a:xfrm>
            <a:off x="3566160" y="2377440"/>
            <a:ext cx="5212080" cy="41148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「〇〇アプリを作って」と言えばファイル一式が生成される</a:t>
            </a:r>
            <a:endParaRPr lang="en-US" sz="1300" dirty="0"/>
          </a:p>
        </p:txBody>
      </p:sp>
      <p:sp>
        <p:nvSpPr>
          <p:cNvPr id="11" name="Shape 9"/>
          <p:cNvSpPr/>
          <p:nvPr/>
        </p:nvSpPr>
        <p:spPr>
          <a:xfrm>
            <a:off x="457200" y="3108960"/>
            <a:ext cx="2926080" cy="594360"/>
          </a:xfrm>
          <a:prstGeom prst="rect">
            <a:avLst/>
          </a:prstGeom>
          <a:solidFill>
            <a:srgbClr val="D97706"/>
          </a:solidFill>
          <a:ln/>
          <a:effectLst>
            <a:outerShdw sx="100000" sy="100000" kx="0" ky="0" algn="bl" rotWithShape="0" blurRad="101600" dist="38100" dir="8100000">
              <a:srgbClr val="000000">
                <a:alpha val="10000"/>
              </a:srgbClr>
            </a:outerShdw>
          </a:effectLst>
        </p:spPr>
      </p:sp>
      <p:sp>
        <p:nvSpPr>
          <p:cNvPr id="12" name="Text 10"/>
          <p:cNvSpPr/>
          <p:nvPr/>
        </p:nvSpPr>
        <p:spPr>
          <a:xfrm>
            <a:off x="457200" y="320040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Walkthroughタブ</a:t>
            </a:r>
            <a:endParaRPr lang="en-US" sz="1300" dirty="0"/>
          </a:p>
        </p:txBody>
      </p:sp>
      <p:sp>
        <p:nvSpPr>
          <p:cNvPr id="13" name="Text 11"/>
          <p:cNvSpPr/>
          <p:nvPr/>
        </p:nvSpPr>
        <p:spPr>
          <a:xfrm>
            <a:off x="3566160" y="3200400"/>
            <a:ext cx="5212080" cy="41148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アプリの説明書・手順書が自動で生成される</a:t>
            </a:r>
            <a:endParaRPr lang="en-US" sz="1300" dirty="0"/>
          </a:p>
        </p:txBody>
      </p:sp>
      <p:sp>
        <p:nvSpPr>
          <p:cNvPr id="14" name="Shape 12"/>
          <p:cNvSpPr/>
          <p:nvPr/>
        </p:nvSpPr>
        <p:spPr>
          <a:xfrm>
            <a:off x="457200" y="3931920"/>
            <a:ext cx="2926080" cy="594360"/>
          </a:xfrm>
          <a:prstGeom prst="rect">
            <a:avLst/>
          </a:prstGeom>
          <a:solidFill>
            <a:srgbClr val="D97706"/>
          </a:solidFill>
          <a:ln/>
          <a:effectLst>
            <a:outerShdw sx="100000" sy="100000" kx="0" ky="0" algn="bl" rotWithShape="0" blurRad="101600" dist="38100" dir="8100000">
              <a:srgbClr val="000000">
                <a:alpha val="10000"/>
              </a:srgbClr>
            </a:outerShdw>
          </a:effectLst>
        </p:spPr>
      </p:sp>
      <p:sp>
        <p:nvSpPr>
          <p:cNvPr id="15" name="Text 13"/>
          <p:cNvSpPr/>
          <p:nvPr/>
        </p:nvSpPr>
        <p:spPr>
          <a:xfrm>
            <a:off x="457200" y="402336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VSCode風の操作感</a:t>
            </a:r>
            <a:endParaRPr lang="en-US" sz="1300" dirty="0"/>
          </a:p>
        </p:txBody>
      </p:sp>
      <p:sp>
        <p:nvSpPr>
          <p:cNvPr id="16" name="Text 14"/>
          <p:cNvSpPr/>
          <p:nvPr/>
        </p:nvSpPr>
        <p:spPr>
          <a:xfrm>
            <a:off x="3566160" y="4023360"/>
            <a:ext cx="5212080" cy="41148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コードを知らなくても直感的に操作できる</a:t>
            </a:r>
            <a:endParaRPr lang="en-US" sz="1300" dirty="0"/>
          </a:p>
        </p:txBody>
      </p:sp>
      <p:sp>
        <p:nvSpPr>
          <p:cNvPr id="17" name="Shape 15"/>
          <p:cNvSpPr/>
          <p:nvPr/>
        </p:nvSpPr>
        <p:spPr>
          <a:xfrm>
            <a:off x="457200" y="4663440"/>
            <a:ext cx="8229600" cy="320040"/>
          </a:xfrm>
          <a:prstGeom prst="rect">
            <a:avLst/>
          </a:prstGeom>
          <a:solidFill>
            <a:srgbClr val="D97706">
              <a:alpha val="15000"/>
            </a:srgbClr>
          </a:solidFill>
          <a:ln/>
        </p:spPr>
      </p:sp>
      <p:sp>
        <p:nvSpPr>
          <p:cNvPr id="18" name="Text 16"/>
          <p:cNvSpPr/>
          <p:nvPr/>
        </p:nvSpPr>
        <p:spPr>
          <a:xfrm>
            <a:off x="548640" y="4681728"/>
            <a:ext cx="8046720" cy="274320"/>
          </a:xfrm>
          <a:prstGeom prst="rect">
            <a:avLst/>
          </a:prstGeom>
          <a:noFill/>
          <a:ln/>
        </p:spPr>
        <p:txBody>
          <a:bodyPr wrap="square" lIns="0" tIns="0" rIns="0" bIns="0" rtlCol="0" anchor="ctr"/>
          <a:lstStyle/>
          <a:p>
            <a:pPr indent="0" marL="0">
              <a:buNone/>
            </a:pPr>
            <a:r>
              <a:rPr lang="en-US" sz="1200" i="1" dirty="0">
                <a:solidFill>
                  <a:srgbClr val="D97706"/>
                </a:solidFill>
                <a:latin typeface="Meiryo" pitchFamily="34" charset="0"/>
                <a:ea typeface="Meiryo" pitchFamily="34" charset="-122"/>
                <a:cs typeface="Meiryo" pitchFamily="34" charset="-120"/>
              </a:rPr>
              <a:t>コツ：Walkthroughは必ず保存しておく。後から見直せる説明書になる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3つを組み合わせた作業フロー</a:t>
            </a:r>
            <a:endParaRPr lang="en-US" sz="22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indent="0" marL="0">
              <a:buNone/>
            </a:pPr>
            <a:r>
              <a:rPr lang="en-US" sz="1600" b="1" dirty="0">
                <a:solidFill>
                  <a:srgbClr val="1A1F36"/>
                </a:solidFill>
                <a:latin typeface="Meiryo" pitchFamily="34" charset="0"/>
                <a:ea typeface="Meiryo" pitchFamily="34" charset="-122"/>
                <a:cs typeface="Meiryo" pitchFamily="34" charset="-120"/>
              </a:rPr>
              <a:t>新しいアプリを作るとき</a:t>
            </a:r>
            <a:endParaRPr lang="en-US" sz="1600" dirty="0"/>
          </a:p>
        </p:txBody>
      </p:sp>
      <p:sp>
        <p:nvSpPr>
          <p:cNvPr id="5" name="Shape 3"/>
          <p:cNvSpPr/>
          <p:nvPr/>
        </p:nvSpPr>
        <p:spPr>
          <a:xfrm>
            <a:off x="457200" y="1417320"/>
            <a:ext cx="256032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457200" y="1417320"/>
            <a:ext cx="2560320" cy="384048"/>
          </a:xfrm>
          <a:prstGeom prst="rect">
            <a:avLst/>
          </a:prstGeom>
          <a:solidFill>
            <a:srgbClr val="3B82C4"/>
          </a:solidFill>
          <a:ln/>
        </p:spPr>
      </p:sp>
      <p:sp>
        <p:nvSpPr>
          <p:cNvPr id="7" name="Text 5"/>
          <p:cNvSpPr/>
          <p:nvPr/>
        </p:nvSpPr>
        <p:spPr>
          <a:xfrm>
            <a:off x="457200" y="1444752"/>
            <a:ext cx="25603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Step 1</a:t>
            </a:r>
            <a:endParaRPr lang="en-US" sz="1200" dirty="0"/>
          </a:p>
        </p:txBody>
      </p:sp>
      <p:sp>
        <p:nvSpPr>
          <p:cNvPr id="8" name="Text 6"/>
          <p:cNvSpPr/>
          <p:nvPr/>
        </p:nvSpPr>
        <p:spPr>
          <a:xfrm>
            <a:off x="457200" y="1892808"/>
            <a:ext cx="2560320" cy="384048"/>
          </a:xfrm>
          <a:prstGeom prst="rect">
            <a:avLst/>
          </a:prstGeom>
          <a:noFill/>
          <a:ln/>
        </p:spPr>
        <p:txBody>
          <a:bodyPr wrap="square" lIns="0" tIns="0" rIns="0" bIns="0" rtlCol="0" anchor="ctr"/>
          <a:lstStyle/>
          <a:p>
            <a:pPr algn="ctr" indent="0" marL="0">
              <a:buNone/>
            </a:pPr>
            <a:r>
              <a:rPr lang="en-US" sz="1500" b="1" dirty="0">
                <a:solidFill>
                  <a:srgbClr val="3B82C4"/>
                </a:solidFill>
                <a:latin typeface="Meiryo" pitchFamily="34" charset="0"/>
                <a:ea typeface="Meiryo" pitchFamily="34" charset="-122"/>
                <a:cs typeface="Meiryo" pitchFamily="34" charset="-120"/>
              </a:rPr>
              <a:t>Claude</a:t>
            </a:r>
            <a:endParaRPr lang="en-US" sz="1500" dirty="0"/>
          </a:p>
        </p:txBody>
      </p:sp>
      <p:sp>
        <p:nvSpPr>
          <p:cNvPr id="9" name="Text 7"/>
          <p:cNvSpPr/>
          <p:nvPr/>
        </p:nvSpPr>
        <p:spPr>
          <a:xfrm>
            <a:off x="457200" y="2331720"/>
            <a:ext cx="2560320" cy="411480"/>
          </a:xfrm>
          <a:prstGeom prst="rect">
            <a:avLst/>
          </a:prstGeom>
          <a:noFill/>
          <a:ln/>
        </p:spPr>
        <p:txBody>
          <a:bodyPr wrap="square" lIns="0" tIns="0" rIns="0" bIns="0" rtlCol="0" anchor="ctr"/>
          <a:lstStyle/>
          <a:p>
            <a:pPr algn="ctr" indent="0" marL="0">
              <a:buNone/>
            </a:pPr>
            <a:r>
              <a:rPr lang="en-US" sz="1300" dirty="0">
                <a:solidFill>
                  <a:srgbClr val="1A1F36"/>
                </a:solidFill>
                <a:latin typeface="Meiryo" pitchFamily="34" charset="0"/>
                <a:ea typeface="Meiryo" pitchFamily="34" charset="-122"/>
                <a:cs typeface="Meiryo" pitchFamily="34" charset="-120"/>
              </a:rPr>
              <a:t>要件を整理する</a:t>
            </a:r>
            <a:endParaRPr lang="en-US" sz="1300" dirty="0"/>
          </a:p>
        </p:txBody>
      </p:sp>
      <p:sp>
        <p:nvSpPr>
          <p:cNvPr id="10" name="Text 8"/>
          <p:cNvSpPr/>
          <p:nvPr/>
        </p:nvSpPr>
        <p:spPr>
          <a:xfrm>
            <a:off x="3035808" y="1874520"/>
            <a:ext cx="256032" cy="457200"/>
          </a:xfrm>
          <a:prstGeom prst="rect">
            <a:avLst/>
          </a:prstGeom>
          <a:noFill/>
          <a:ln/>
        </p:spPr>
        <p:txBody>
          <a:bodyPr wrap="square" lIns="0" tIns="0" rIns="0" bIns="0" rtlCol="0" anchor="ctr"/>
          <a:lstStyle/>
          <a:p>
            <a:pPr algn="ctr" indent="0" marL="0">
              <a:buNone/>
            </a:pPr>
            <a:r>
              <a:rPr lang="en-US" sz="1800" dirty="0">
                <a:solidFill>
                  <a:srgbClr val="D4A843"/>
                </a:solidFill>
                <a:latin typeface="Meiryo" pitchFamily="34" charset="0"/>
                <a:ea typeface="Meiryo" pitchFamily="34" charset="-122"/>
                <a:cs typeface="Meiryo" pitchFamily="34" charset="-120"/>
              </a:rPr>
              <a:t>→</a:t>
            </a:r>
            <a:endParaRPr lang="en-US" sz="1800" dirty="0"/>
          </a:p>
        </p:txBody>
      </p:sp>
      <p:sp>
        <p:nvSpPr>
          <p:cNvPr id="11" name="Shape 9"/>
          <p:cNvSpPr/>
          <p:nvPr/>
        </p:nvSpPr>
        <p:spPr>
          <a:xfrm>
            <a:off x="3291840" y="1417320"/>
            <a:ext cx="256032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10"/>
          <p:cNvSpPr/>
          <p:nvPr/>
        </p:nvSpPr>
        <p:spPr>
          <a:xfrm>
            <a:off x="3291840" y="1417320"/>
            <a:ext cx="2560320" cy="384048"/>
          </a:xfrm>
          <a:prstGeom prst="rect">
            <a:avLst/>
          </a:prstGeom>
          <a:solidFill>
            <a:srgbClr val="D97706"/>
          </a:solidFill>
          <a:ln/>
        </p:spPr>
      </p:sp>
      <p:sp>
        <p:nvSpPr>
          <p:cNvPr id="13" name="Text 11"/>
          <p:cNvSpPr/>
          <p:nvPr/>
        </p:nvSpPr>
        <p:spPr>
          <a:xfrm>
            <a:off x="3291840" y="1444752"/>
            <a:ext cx="25603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Step 2</a:t>
            </a:r>
            <a:endParaRPr lang="en-US" sz="1200" dirty="0"/>
          </a:p>
        </p:txBody>
      </p:sp>
      <p:sp>
        <p:nvSpPr>
          <p:cNvPr id="14" name="Text 12"/>
          <p:cNvSpPr/>
          <p:nvPr/>
        </p:nvSpPr>
        <p:spPr>
          <a:xfrm>
            <a:off x="3291840" y="1892808"/>
            <a:ext cx="2560320" cy="384048"/>
          </a:xfrm>
          <a:prstGeom prst="rect">
            <a:avLst/>
          </a:prstGeom>
          <a:noFill/>
          <a:ln/>
        </p:spPr>
        <p:txBody>
          <a:bodyPr wrap="square" lIns="0" tIns="0" rIns="0" bIns="0" rtlCol="0" anchor="ctr"/>
          <a:lstStyle/>
          <a:p>
            <a:pPr algn="ctr" indent="0" marL="0">
              <a:buNone/>
            </a:pPr>
            <a:r>
              <a:rPr lang="en-US" sz="1500" b="1" dirty="0">
                <a:solidFill>
                  <a:srgbClr val="D97706"/>
                </a:solidFill>
                <a:latin typeface="Meiryo" pitchFamily="34" charset="0"/>
                <a:ea typeface="Meiryo" pitchFamily="34" charset="-122"/>
                <a:cs typeface="Meiryo" pitchFamily="34" charset="-120"/>
              </a:rPr>
              <a:t>Antigravity</a:t>
            </a:r>
            <a:endParaRPr lang="en-US" sz="1500" dirty="0"/>
          </a:p>
        </p:txBody>
      </p:sp>
      <p:sp>
        <p:nvSpPr>
          <p:cNvPr id="15" name="Text 13"/>
          <p:cNvSpPr/>
          <p:nvPr/>
        </p:nvSpPr>
        <p:spPr>
          <a:xfrm>
            <a:off x="3291840" y="2331720"/>
            <a:ext cx="2560320" cy="411480"/>
          </a:xfrm>
          <a:prstGeom prst="rect">
            <a:avLst/>
          </a:prstGeom>
          <a:noFill/>
          <a:ln/>
        </p:spPr>
        <p:txBody>
          <a:bodyPr wrap="square" lIns="0" tIns="0" rIns="0" bIns="0" rtlCol="0" anchor="ctr"/>
          <a:lstStyle/>
          <a:p>
            <a:pPr algn="ctr" indent="0" marL="0">
              <a:buNone/>
            </a:pPr>
            <a:r>
              <a:rPr lang="en-US" sz="1300" dirty="0">
                <a:solidFill>
                  <a:srgbClr val="1A1F36"/>
                </a:solidFill>
                <a:latin typeface="Meiryo" pitchFamily="34" charset="0"/>
                <a:ea typeface="Meiryo" pitchFamily="34" charset="-122"/>
                <a:cs typeface="Meiryo" pitchFamily="34" charset="-120"/>
              </a:rPr>
              <a:t>アプリを生成する</a:t>
            </a:r>
            <a:endParaRPr lang="en-US" sz="1300" dirty="0"/>
          </a:p>
        </p:txBody>
      </p:sp>
      <p:sp>
        <p:nvSpPr>
          <p:cNvPr id="16" name="Text 14"/>
          <p:cNvSpPr/>
          <p:nvPr/>
        </p:nvSpPr>
        <p:spPr>
          <a:xfrm>
            <a:off x="5870448" y="1874520"/>
            <a:ext cx="256032" cy="457200"/>
          </a:xfrm>
          <a:prstGeom prst="rect">
            <a:avLst/>
          </a:prstGeom>
          <a:noFill/>
          <a:ln/>
        </p:spPr>
        <p:txBody>
          <a:bodyPr wrap="square" lIns="0" tIns="0" rIns="0" bIns="0" rtlCol="0" anchor="ctr"/>
          <a:lstStyle/>
          <a:p>
            <a:pPr algn="ctr" indent="0" marL="0">
              <a:buNone/>
            </a:pPr>
            <a:r>
              <a:rPr lang="en-US" sz="1800" dirty="0">
                <a:solidFill>
                  <a:srgbClr val="D4A843"/>
                </a:solidFill>
                <a:latin typeface="Meiryo" pitchFamily="34" charset="0"/>
                <a:ea typeface="Meiryo" pitchFamily="34" charset="-122"/>
                <a:cs typeface="Meiryo" pitchFamily="34" charset="-120"/>
              </a:rPr>
              <a:t>→</a:t>
            </a:r>
            <a:endParaRPr lang="en-US" sz="1800" dirty="0"/>
          </a:p>
        </p:txBody>
      </p:sp>
      <p:sp>
        <p:nvSpPr>
          <p:cNvPr id="17" name="Shape 15"/>
          <p:cNvSpPr/>
          <p:nvPr/>
        </p:nvSpPr>
        <p:spPr>
          <a:xfrm>
            <a:off x="6126480" y="1417320"/>
            <a:ext cx="256032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6"/>
          <p:cNvSpPr/>
          <p:nvPr/>
        </p:nvSpPr>
        <p:spPr>
          <a:xfrm>
            <a:off x="6126480" y="1417320"/>
            <a:ext cx="2560320" cy="384048"/>
          </a:xfrm>
          <a:prstGeom prst="rect">
            <a:avLst/>
          </a:prstGeom>
          <a:solidFill>
            <a:srgbClr val="2E8B57"/>
          </a:solidFill>
          <a:ln/>
        </p:spPr>
      </p:sp>
      <p:sp>
        <p:nvSpPr>
          <p:cNvPr id="19" name="Text 17"/>
          <p:cNvSpPr/>
          <p:nvPr/>
        </p:nvSpPr>
        <p:spPr>
          <a:xfrm>
            <a:off x="6126480" y="1444752"/>
            <a:ext cx="25603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Step 3</a:t>
            </a:r>
            <a:endParaRPr lang="en-US" sz="1200" dirty="0"/>
          </a:p>
        </p:txBody>
      </p:sp>
      <p:sp>
        <p:nvSpPr>
          <p:cNvPr id="20" name="Text 18"/>
          <p:cNvSpPr/>
          <p:nvPr/>
        </p:nvSpPr>
        <p:spPr>
          <a:xfrm>
            <a:off x="6126480" y="1892808"/>
            <a:ext cx="2560320" cy="384048"/>
          </a:xfrm>
          <a:prstGeom prst="rect">
            <a:avLst/>
          </a:prstGeom>
          <a:noFill/>
          <a:ln/>
        </p:spPr>
        <p:txBody>
          <a:bodyPr wrap="square" lIns="0" tIns="0" rIns="0" bIns="0" rtlCol="0" anchor="ctr"/>
          <a:lstStyle/>
          <a:p>
            <a:pPr algn="ctr" indent="0" marL="0">
              <a:buNone/>
            </a:pPr>
            <a:r>
              <a:rPr lang="en-US" sz="1500" b="1" dirty="0">
                <a:solidFill>
                  <a:srgbClr val="2E8B57"/>
                </a:solidFill>
                <a:latin typeface="Meiryo" pitchFamily="34" charset="0"/>
                <a:ea typeface="Meiryo" pitchFamily="34" charset="-122"/>
                <a:cs typeface="Meiryo" pitchFamily="34" charset="-120"/>
              </a:rPr>
              <a:t>Claude Code</a:t>
            </a:r>
            <a:endParaRPr lang="en-US" sz="1500" dirty="0"/>
          </a:p>
        </p:txBody>
      </p:sp>
      <p:sp>
        <p:nvSpPr>
          <p:cNvPr id="21" name="Text 19"/>
          <p:cNvSpPr/>
          <p:nvPr/>
        </p:nvSpPr>
        <p:spPr>
          <a:xfrm>
            <a:off x="6126480" y="2331720"/>
            <a:ext cx="2560320" cy="411480"/>
          </a:xfrm>
          <a:prstGeom prst="rect">
            <a:avLst/>
          </a:prstGeom>
          <a:noFill/>
          <a:ln/>
        </p:spPr>
        <p:txBody>
          <a:bodyPr wrap="square" lIns="0" tIns="0" rIns="0" bIns="0" rtlCol="0" anchor="ctr"/>
          <a:lstStyle/>
          <a:p>
            <a:pPr algn="ctr" indent="0" marL="0">
              <a:buNone/>
            </a:pPr>
            <a:r>
              <a:rPr lang="en-US" sz="1300" dirty="0">
                <a:solidFill>
                  <a:srgbClr val="1A1F36"/>
                </a:solidFill>
                <a:latin typeface="Meiryo" pitchFamily="34" charset="0"/>
                <a:ea typeface="Meiryo" pitchFamily="34" charset="-122"/>
                <a:cs typeface="Meiryo" pitchFamily="34" charset="-120"/>
              </a:rPr>
              <a:t>細部を修正する</a:t>
            </a:r>
            <a:endParaRPr lang="en-US" sz="1300" dirty="0"/>
          </a:p>
        </p:txBody>
      </p:sp>
      <p:sp>
        <p:nvSpPr>
          <p:cNvPr id="22" name="Text 20"/>
          <p:cNvSpPr/>
          <p:nvPr/>
        </p:nvSpPr>
        <p:spPr>
          <a:xfrm>
            <a:off x="457200" y="3063240"/>
            <a:ext cx="8229600" cy="411480"/>
          </a:xfrm>
          <a:prstGeom prst="rect">
            <a:avLst/>
          </a:prstGeom>
          <a:noFill/>
          <a:ln/>
        </p:spPr>
        <p:txBody>
          <a:bodyPr wrap="square" lIns="0" tIns="0" rIns="0" bIns="0" rtlCol="0" anchor="ctr"/>
          <a:lstStyle/>
          <a:p>
            <a:pPr indent="0" marL="0">
              <a:buNone/>
            </a:pPr>
            <a:r>
              <a:rPr lang="en-US" sz="1600" b="1" dirty="0">
                <a:solidFill>
                  <a:srgbClr val="1A1F36"/>
                </a:solidFill>
                <a:latin typeface="Meiryo" pitchFamily="34" charset="0"/>
                <a:ea typeface="Meiryo" pitchFamily="34" charset="-122"/>
                <a:cs typeface="Meiryo" pitchFamily="34" charset="-120"/>
              </a:rPr>
              <a:t>既存アプリを修正するとき</a:t>
            </a:r>
            <a:endParaRPr lang="en-US" sz="1600" dirty="0"/>
          </a:p>
        </p:txBody>
      </p:sp>
      <p:sp>
        <p:nvSpPr>
          <p:cNvPr id="23" name="Shape 21"/>
          <p:cNvSpPr/>
          <p:nvPr/>
        </p:nvSpPr>
        <p:spPr>
          <a:xfrm>
            <a:off x="457200" y="3547872"/>
            <a:ext cx="256032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4" name="Shape 22"/>
          <p:cNvSpPr/>
          <p:nvPr/>
        </p:nvSpPr>
        <p:spPr>
          <a:xfrm>
            <a:off x="457200" y="3547872"/>
            <a:ext cx="2560320" cy="384048"/>
          </a:xfrm>
          <a:prstGeom prst="rect">
            <a:avLst/>
          </a:prstGeom>
          <a:solidFill>
            <a:srgbClr val="3B82C4"/>
          </a:solidFill>
          <a:ln/>
        </p:spPr>
      </p:sp>
      <p:sp>
        <p:nvSpPr>
          <p:cNvPr id="25" name="Text 23"/>
          <p:cNvSpPr/>
          <p:nvPr/>
        </p:nvSpPr>
        <p:spPr>
          <a:xfrm>
            <a:off x="457200" y="3575304"/>
            <a:ext cx="25603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Step 1</a:t>
            </a:r>
            <a:endParaRPr lang="en-US" sz="1200" dirty="0"/>
          </a:p>
        </p:txBody>
      </p:sp>
      <p:sp>
        <p:nvSpPr>
          <p:cNvPr id="26" name="Text 24"/>
          <p:cNvSpPr/>
          <p:nvPr/>
        </p:nvSpPr>
        <p:spPr>
          <a:xfrm>
            <a:off x="457200" y="4005072"/>
            <a:ext cx="2560320" cy="384048"/>
          </a:xfrm>
          <a:prstGeom prst="rect">
            <a:avLst/>
          </a:prstGeom>
          <a:noFill/>
          <a:ln/>
        </p:spPr>
        <p:txBody>
          <a:bodyPr wrap="square" lIns="0" tIns="0" rIns="0" bIns="0" rtlCol="0" anchor="ctr"/>
          <a:lstStyle/>
          <a:p>
            <a:pPr algn="ctr" indent="0" marL="0">
              <a:buNone/>
            </a:pPr>
            <a:r>
              <a:rPr lang="en-US" sz="1500" b="1" dirty="0">
                <a:solidFill>
                  <a:srgbClr val="3B82C4"/>
                </a:solidFill>
                <a:latin typeface="Meiryo" pitchFamily="34" charset="0"/>
                <a:ea typeface="Meiryo" pitchFamily="34" charset="-122"/>
                <a:cs typeface="Meiryo" pitchFamily="34" charset="-120"/>
              </a:rPr>
              <a:t>Claude</a:t>
            </a:r>
            <a:endParaRPr lang="en-US" sz="1500" dirty="0"/>
          </a:p>
        </p:txBody>
      </p:sp>
      <p:sp>
        <p:nvSpPr>
          <p:cNvPr id="27" name="Text 25"/>
          <p:cNvSpPr/>
          <p:nvPr/>
        </p:nvSpPr>
        <p:spPr>
          <a:xfrm>
            <a:off x="457200" y="4434840"/>
            <a:ext cx="2560320" cy="365760"/>
          </a:xfrm>
          <a:prstGeom prst="rect">
            <a:avLst/>
          </a:prstGeom>
          <a:noFill/>
          <a:ln/>
        </p:spPr>
        <p:txBody>
          <a:bodyPr wrap="square" lIns="0" tIns="0" rIns="0" bIns="0" rtlCol="0" anchor="ctr"/>
          <a:lstStyle/>
          <a:p>
            <a:pPr algn="ctr" indent="0" marL="0">
              <a:buNone/>
            </a:pPr>
            <a:r>
              <a:rPr lang="en-US" sz="1300" dirty="0">
                <a:solidFill>
                  <a:srgbClr val="1A1F36"/>
                </a:solidFill>
                <a:latin typeface="Meiryo" pitchFamily="34" charset="0"/>
                <a:ea typeface="Meiryo" pitchFamily="34" charset="-122"/>
                <a:cs typeface="Meiryo" pitchFamily="34" charset="-120"/>
              </a:rPr>
              <a:t>問題を特定する</a:t>
            </a:r>
            <a:endParaRPr lang="en-US" sz="1300" dirty="0"/>
          </a:p>
        </p:txBody>
      </p:sp>
      <p:sp>
        <p:nvSpPr>
          <p:cNvPr id="28" name="Text 26"/>
          <p:cNvSpPr/>
          <p:nvPr/>
        </p:nvSpPr>
        <p:spPr>
          <a:xfrm>
            <a:off x="3035808" y="3977640"/>
            <a:ext cx="256032" cy="457200"/>
          </a:xfrm>
          <a:prstGeom prst="rect">
            <a:avLst/>
          </a:prstGeom>
          <a:noFill/>
          <a:ln/>
        </p:spPr>
        <p:txBody>
          <a:bodyPr wrap="square" lIns="0" tIns="0" rIns="0" bIns="0" rtlCol="0" anchor="ctr"/>
          <a:lstStyle/>
          <a:p>
            <a:pPr algn="ctr" indent="0" marL="0">
              <a:buNone/>
            </a:pPr>
            <a:r>
              <a:rPr lang="en-US" sz="1800" dirty="0">
                <a:solidFill>
                  <a:srgbClr val="D4A843"/>
                </a:solidFill>
                <a:latin typeface="Meiryo" pitchFamily="34" charset="0"/>
                <a:ea typeface="Meiryo" pitchFamily="34" charset="-122"/>
                <a:cs typeface="Meiryo" pitchFamily="34" charset="-120"/>
              </a:rPr>
              <a:t>→</a:t>
            </a:r>
            <a:endParaRPr lang="en-US" sz="1800" dirty="0"/>
          </a:p>
        </p:txBody>
      </p:sp>
      <p:sp>
        <p:nvSpPr>
          <p:cNvPr id="29" name="Shape 27"/>
          <p:cNvSpPr/>
          <p:nvPr/>
        </p:nvSpPr>
        <p:spPr>
          <a:xfrm>
            <a:off x="3291840" y="3547872"/>
            <a:ext cx="256032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0" name="Shape 28"/>
          <p:cNvSpPr/>
          <p:nvPr/>
        </p:nvSpPr>
        <p:spPr>
          <a:xfrm>
            <a:off x="3291840" y="3547872"/>
            <a:ext cx="2560320" cy="384048"/>
          </a:xfrm>
          <a:prstGeom prst="rect">
            <a:avLst/>
          </a:prstGeom>
          <a:solidFill>
            <a:srgbClr val="2E8B57"/>
          </a:solidFill>
          <a:ln/>
        </p:spPr>
      </p:sp>
      <p:sp>
        <p:nvSpPr>
          <p:cNvPr id="31" name="Text 29"/>
          <p:cNvSpPr/>
          <p:nvPr/>
        </p:nvSpPr>
        <p:spPr>
          <a:xfrm>
            <a:off x="3291840" y="3575304"/>
            <a:ext cx="25603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Step 2</a:t>
            </a:r>
            <a:endParaRPr lang="en-US" sz="1200" dirty="0"/>
          </a:p>
        </p:txBody>
      </p:sp>
      <p:sp>
        <p:nvSpPr>
          <p:cNvPr id="32" name="Text 30"/>
          <p:cNvSpPr/>
          <p:nvPr/>
        </p:nvSpPr>
        <p:spPr>
          <a:xfrm>
            <a:off x="3291840" y="4005072"/>
            <a:ext cx="2560320" cy="384048"/>
          </a:xfrm>
          <a:prstGeom prst="rect">
            <a:avLst/>
          </a:prstGeom>
          <a:noFill/>
          <a:ln/>
        </p:spPr>
        <p:txBody>
          <a:bodyPr wrap="square" lIns="0" tIns="0" rIns="0" bIns="0" rtlCol="0" anchor="ctr"/>
          <a:lstStyle/>
          <a:p>
            <a:pPr algn="ctr" indent="0" marL="0">
              <a:buNone/>
            </a:pPr>
            <a:r>
              <a:rPr lang="en-US" sz="1500" b="1" dirty="0">
                <a:solidFill>
                  <a:srgbClr val="2E8B57"/>
                </a:solidFill>
                <a:latin typeface="Meiryo" pitchFamily="34" charset="0"/>
                <a:ea typeface="Meiryo" pitchFamily="34" charset="-122"/>
                <a:cs typeface="Meiryo" pitchFamily="34" charset="-120"/>
              </a:rPr>
              <a:t>Claude Code</a:t>
            </a:r>
            <a:endParaRPr lang="en-US" sz="1500" dirty="0"/>
          </a:p>
        </p:txBody>
      </p:sp>
      <p:sp>
        <p:nvSpPr>
          <p:cNvPr id="33" name="Text 31"/>
          <p:cNvSpPr/>
          <p:nvPr/>
        </p:nvSpPr>
        <p:spPr>
          <a:xfrm>
            <a:off x="3291840" y="4434840"/>
            <a:ext cx="2560320" cy="365760"/>
          </a:xfrm>
          <a:prstGeom prst="rect">
            <a:avLst/>
          </a:prstGeom>
          <a:noFill/>
          <a:ln/>
        </p:spPr>
        <p:txBody>
          <a:bodyPr wrap="square" lIns="0" tIns="0" rIns="0" bIns="0" rtlCol="0" anchor="ctr"/>
          <a:lstStyle/>
          <a:p>
            <a:pPr algn="ctr" indent="0" marL="0">
              <a:buNone/>
            </a:pPr>
            <a:r>
              <a:rPr lang="en-US" sz="1300" dirty="0">
                <a:solidFill>
                  <a:srgbClr val="1A1F36"/>
                </a:solidFill>
                <a:latin typeface="Meiryo" pitchFamily="34" charset="0"/>
                <a:ea typeface="Meiryo" pitchFamily="34" charset="-122"/>
                <a:cs typeface="Meiryo" pitchFamily="34" charset="-120"/>
              </a:rPr>
              <a:t>コードを修正する</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迷ったときの判断チャート</a:t>
            </a:r>
            <a:endParaRPr lang="en-US" sz="2200" dirty="0"/>
          </a:p>
        </p:txBody>
      </p:sp>
      <p:sp>
        <p:nvSpPr>
          <p:cNvPr id="4" name="Shape 2"/>
          <p:cNvSpPr/>
          <p:nvPr/>
        </p:nvSpPr>
        <p:spPr>
          <a:xfrm>
            <a:off x="457200" y="960120"/>
            <a:ext cx="566928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 name="Text 3"/>
          <p:cNvSpPr/>
          <p:nvPr/>
        </p:nvSpPr>
        <p:spPr>
          <a:xfrm>
            <a:off x="640080" y="1051560"/>
            <a:ext cx="5486400" cy="3657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文章を書く・考えを整理したい</a:t>
            </a:r>
            <a:endParaRPr lang="en-US" sz="1300" dirty="0"/>
          </a:p>
        </p:txBody>
      </p:sp>
      <p:sp>
        <p:nvSpPr>
          <p:cNvPr id="6" name="Text 4"/>
          <p:cNvSpPr/>
          <p:nvPr/>
        </p:nvSpPr>
        <p:spPr>
          <a:xfrm>
            <a:off x="6217920" y="1051560"/>
            <a:ext cx="365760" cy="365760"/>
          </a:xfrm>
          <a:prstGeom prst="rect">
            <a:avLst/>
          </a:prstGeom>
          <a:noFill/>
          <a:ln/>
        </p:spPr>
        <p:txBody>
          <a:bodyPr wrap="square" lIns="0" tIns="0" rIns="0" bIns="0" rtlCol="0" anchor="ctr"/>
          <a:lstStyle/>
          <a:p>
            <a:pPr algn="ctr" indent="0" marL="0">
              <a:buNone/>
            </a:pPr>
            <a:r>
              <a:rPr lang="en-US" sz="1600" dirty="0">
                <a:solidFill>
                  <a:srgbClr val="D4A843"/>
                </a:solidFill>
                <a:latin typeface="Meiryo" pitchFamily="34" charset="0"/>
                <a:ea typeface="Meiryo" pitchFamily="34" charset="-122"/>
                <a:cs typeface="Meiryo" pitchFamily="34" charset="-120"/>
              </a:rPr>
              <a:t>→</a:t>
            </a:r>
            <a:endParaRPr lang="en-US" sz="1600" dirty="0"/>
          </a:p>
        </p:txBody>
      </p:sp>
      <p:sp>
        <p:nvSpPr>
          <p:cNvPr id="7" name="Shape 5"/>
          <p:cNvSpPr/>
          <p:nvPr/>
        </p:nvSpPr>
        <p:spPr>
          <a:xfrm>
            <a:off x="6583680" y="960120"/>
            <a:ext cx="2103120" cy="548640"/>
          </a:xfrm>
          <a:prstGeom prst="rect">
            <a:avLst/>
          </a:prstGeom>
          <a:solidFill>
            <a:srgbClr val="3B82C4"/>
          </a:solidFill>
          <a:ln/>
        </p:spPr>
      </p:sp>
      <p:sp>
        <p:nvSpPr>
          <p:cNvPr id="8" name="Text 6"/>
          <p:cNvSpPr/>
          <p:nvPr/>
        </p:nvSpPr>
        <p:spPr>
          <a:xfrm>
            <a:off x="6583680" y="1051560"/>
            <a:ext cx="2103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Claude</a:t>
            </a:r>
            <a:endParaRPr lang="en-US" sz="1400" dirty="0"/>
          </a:p>
        </p:txBody>
      </p:sp>
      <p:sp>
        <p:nvSpPr>
          <p:cNvPr id="9" name="Shape 7"/>
          <p:cNvSpPr/>
          <p:nvPr/>
        </p:nvSpPr>
        <p:spPr>
          <a:xfrm>
            <a:off x="457200" y="1737360"/>
            <a:ext cx="566928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Text 8"/>
          <p:cNvSpPr/>
          <p:nvPr/>
        </p:nvSpPr>
        <p:spPr>
          <a:xfrm>
            <a:off x="640080" y="1828800"/>
            <a:ext cx="5486400" cy="3657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新しいアプリやツールをゼロから作りたい</a:t>
            </a:r>
            <a:endParaRPr lang="en-US" sz="1300" dirty="0"/>
          </a:p>
        </p:txBody>
      </p:sp>
      <p:sp>
        <p:nvSpPr>
          <p:cNvPr id="11" name="Text 9"/>
          <p:cNvSpPr/>
          <p:nvPr/>
        </p:nvSpPr>
        <p:spPr>
          <a:xfrm>
            <a:off x="6217920" y="1828800"/>
            <a:ext cx="365760" cy="365760"/>
          </a:xfrm>
          <a:prstGeom prst="rect">
            <a:avLst/>
          </a:prstGeom>
          <a:noFill/>
          <a:ln/>
        </p:spPr>
        <p:txBody>
          <a:bodyPr wrap="square" lIns="0" tIns="0" rIns="0" bIns="0" rtlCol="0" anchor="ctr"/>
          <a:lstStyle/>
          <a:p>
            <a:pPr algn="ctr" indent="0" marL="0">
              <a:buNone/>
            </a:pPr>
            <a:r>
              <a:rPr lang="en-US" sz="1600" dirty="0">
                <a:solidFill>
                  <a:srgbClr val="D4A843"/>
                </a:solidFill>
                <a:latin typeface="Meiryo" pitchFamily="34" charset="0"/>
                <a:ea typeface="Meiryo" pitchFamily="34" charset="-122"/>
                <a:cs typeface="Meiryo" pitchFamily="34" charset="-120"/>
              </a:rPr>
              <a:t>→</a:t>
            </a:r>
            <a:endParaRPr lang="en-US" sz="1600" dirty="0"/>
          </a:p>
        </p:txBody>
      </p:sp>
      <p:sp>
        <p:nvSpPr>
          <p:cNvPr id="12" name="Shape 10"/>
          <p:cNvSpPr/>
          <p:nvPr/>
        </p:nvSpPr>
        <p:spPr>
          <a:xfrm>
            <a:off x="6583680" y="1737360"/>
            <a:ext cx="2103120" cy="548640"/>
          </a:xfrm>
          <a:prstGeom prst="rect">
            <a:avLst/>
          </a:prstGeom>
          <a:solidFill>
            <a:srgbClr val="D97706"/>
          </a:solidFill>
          <a:ln/>
        </p:spPr>
      </p:sp>
      <p:sp>
        <p:nvSpPr>
          <p:cNvPr id="13" name="Text 11"/>
          <p:cNvSpPr/>
          <p:nvPr/>
        </p:nvSpPr>
        <p:spPr>
          <a:xfrm>
            <a:off x="6583680" y="1828800"/>
            <a:ext cx="2103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Antigravity</a:t>
            </a:r>
            <a:endParaRPr lang="en-US" sz="1400" dirty="0"/>
          </a:p>
        </p:txBody>
      </p:sp>
      <p:sp>
        <p:nvSpPr>
          <p:cNvPr id="14" name="Shape 12"/>
          <p:cNvSpPr/>
          <p:nvPr/>
        </p:nvSpPr>
        <p:spPr>
          <a:xfrm>
            <a:off x="457200" y="2514600"/>
            <a:ext cx="566928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5" name="Text 13"/>
          <p:cNvSpPr/>
          <p:nvPr/>
        </p:nvSpPr>
        <p:spPr>
          <a:xfrm>
            <a:off x="640080" y="2606040"/>
            <a:ext cx="5486400" cy="3657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今あるアプリのコードを直したい</a:t>
            </a:r>
            <a:endParaRPr lang="en-US" sz="1300" dirty="0"/>
          </a:p>
        </p:txBody>
      </p:sp>
      <p:sp>
        <p:nvSpPr>
          <p:cNvPr id="16" name="Text 14"/>
          <p:cNvSpPr/>
          <p:nvPr/>
        </p:nvSpPr>
        <p:spPr>
          <a:xfrm>
            <a:off x="6217920" y="2606040"/>
            <a:ext cx="365760" cy="365760"/>
          </a:xfrm>
          <a:prstGeom prst="rect">
            <a:avLst/>
          </a:prstGeom>
          <a:noFill/>
          <a:ln/>
        </p:spPr>
        <p:txBody>
          <a:bodyPr wrap="square" lIns="0" tIns="0" rIns="0" bIns="0" rtlCol="0" anchor="ctr"/>
          <a:lstStyle/>
          <a:p>
            <a:pPr algn="ctr" indent="0" marL="0">
              <a:buNone/>
            </a:pPr>
            <a:r>
              <a:rPr lang="en-US" sz="1600" dirty="0">
                <a:solidFill>
                  <a:srgbClr val="D4A843"/>
                </a:solidFill>
                <a:latin typeface="Meiryo" pitchFamily="34" charset="0"/>
                <a:ea typeface="Meiryo" pitchFamily="34" charset="-122"/>
                <a:cs typeface="Meiryo" pitchFamily="34" charset="-120"/>
              </a:rPr>
              <a:t>→</a:t>
            </a:r>
            <a:endParaRPr lang="en-US" sz="1600" dirty="0"/>
          </a:p>
        </p:txBody>
      </p:sp>
      <p:sp>
        <p:nvSpPr>
          <p:cNvPr id="17" name="Shape 15"/>
          <p:cNvSpPr/>
          <p:nvPr/>
        </p:nvSpPr>
        <p:spPr>
          <a:xfrm>
            <a:off x="6583680" y="2514600"/>
            <a:ext cx="2103120" cy="548640"/>
          </a:xfrm>
          <a:prstGeom prst="rect">
            <a:avLst/>
          </a:prstGeom>
          <a:solidFill>
            <a:srgbClr val="2E8B57"/>
          </a:solidFill>
          <a:ln/>
        </p:spPr>
      </p:sp>
      <p:sp>
        <p:nvSpPr>
          <p:cNvPr id="18" name="Text 16"/>
          <p:cNvSpPr/>
          <p:nvPr/>
        </p:nvSpPr>
        <p:spPr>
          <a:xfrm>
            <a:off x="6583680" y="2606040"/>
            <a:ext cx="2103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Claude Code</a:t>
            </a:r>
            <a:endParaRPr lang="en-US" sz="1400" dirty="0"/>
          </a:p>
        </p:txBody>
      </p:sp>
      <p:sp>
        <p:nvSpPr>
          <p:cNvPr id="19" name="Shape 17"/>
          <p:cNvSpPr/>
          <p:nvPr/>
        </p:nvSpPr>
        <p:spPr>
          <a:xfrm>
            <a:off x="457200" y="3291840"/>
            <a:ext cx="566928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0" name="Text 18"/>
          <p:cNvSpPr/>
          <p:nvPr/>
        </p:nvSpPr>
        <p:spPr>
          <a:xfrm>
            <a:off x="640080" y="3383280"/>
            <a:ext cx="5486400" cy="3657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どうすればいいか戦略を考えたい</a:t>
            </a:r>
            <a:endParaRPr lang="en-US" sz="1300" dirty="0"/>
          </a:p>
        </p:txBody>
      </p:sp>
      <p:sp>
        <p:nvSpPr>
          <p:cNvPr id="21" name="Text 19"/>
          <p:cNvSpPr/>
          <p:nvPr/>
        </p:nvSpPr>
        <p:spPr>
          <a:xfrm>
            <a:off x="6217920" y="3383280"/>
            <a:ext cx="365760" cy="365760"/>
          </a:xfrm>
          <a:prstGeom prst="rect">
            <a:avLst/>
          </a:prstGeom>
          <a:noFill/>
          <a:ln/>
        </p:spPr>
        <p:txBody>
          <a:bodyPr wrap="square" lIns="0" tIns="0" rIns="0" bIns="0" rtlCol="0" anchor="ctr"/>
          <a:lstStyle/>
          <a:p>
            <a:pPr algn="ctr" indent="0" marL="0">
              <a:buNone/>
            </a:pPr>
            <a:r>
              <a:rPr lang="en-US" sz="1600" dirty="0">
                <a:solidFill>
                  <a:srgbClr val="D4A843"/>
                </a:solidFill>
                <a:latin typeface="Meiryo" pitchFamily="34" charset="0"/>
                <a:ea typeface="Meiryo" pitchFamily="34" charset="-122"/>
                <a:cs typeface="Meiryo" pitchFamily="34" charset="-120"/>
              </a:rPr>
              <a:t>→</a:t>
            </a:r>
            <a:endParaRPr lang="en-US" sz="1600" dirty="0"/>
          </a:p>
        </p:txBody>
      </p:sp>
      <p:sp>
        <p:nvSpPr>
          <p:cNvPr id="22" name="Shape 20"/>
          <p:cNvSpPr/>
          <p:nvPr/>
        </p:nvSpPr>
        <p:spPr>
          <a:xfrm>
            <a:off x="6583680" y="3291840"/>
            <a:ext cx="2103120" cy="548640"/>
          </a:xfrm>
          <a:prstGeom prst="rect">
            <a:avLst/>
          </a:prstGeom>
          <a:solidFill>
            <a:srgbClr val="3B82C4"/>
          </a:solidFill>
          <a:ln/>
        </p:spPr>
      </p:sp>
      <p:sp>
        <p:nvSpPr>
          <p:cNvPr id="23" name="Text 21"/>
          <p:cNvSpPr/>
          <p:nvPr/>
        </p:nvSpPr>
        <p:spPr>
          <a:xfrm>
            <a:off x="6583680" y="3383280"/>
            <a:ext cx="2103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Claude</a:t>
            </a:r>
            <a:endParaRPr lang="en-US" sz="1400" dirty="0"/>
          </a:p>
        </p:txBody>
      </p:sp>
      <p:sp>
        <p:nvSpPr>
          <p:cNvPr id="24" name="Shape 22"/>
          <p:cNvSpPr/>
          <p:nvPr/>
        </p:nvSpPr>
        <p:spPr>
          <a:xfrm>
            <a:off x="457200" y="4069080"/>
            <a:ext cx="566928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5" name="Text 23"/>
          <p:cNvSpPr/>
          <p:nvPr/>
        </p:nvSpPr>
        <p:spPr>
          <a:xfrm>
            <a:off x="640080" y="4160520"/>
            <a:ext cx="5486400" cy="365760"/>
          </a:xfrm>
          <a:prstGeom prst="rect">
            <a:avLst/>
          </a:prstGeom>
          <a:noFill/>
          <a:ln/>
        </p:spPr>
        <p:txBody>
          <a:bodyPr wrap="square" lIns="0" tIns="0" rIns="0" bIns="0" rtlCol="0" anchor="ctr"/>
          <a:lstStyle/>
          <a:p>
            <a:pPr indent="0" marL="0">
              <a:buNone/>
            </a:pPr>
            <a:r>
              <a:rPr lang="en-US" sz="1300" dirty="0">
                <a:solidFill>
                  <a:srgbClr val="1A1F36"/>
                </a:solidFill>
                <a:latin typeface="Meiryo" pitchFamily="34" charset="0"/>
                <a:ea typeface="Meiryo" pitchFamily="34" charset="-122"/>
                <a:cs typeface="Meiryo" pitchFamily="34" charset="-120"/>
              </a:rPr>
              <a:t>大きく作り直したい（リニューアル）</a:t>
            </a:r>
            <a:endParaRPr lang="en-US" sz="1300" dirty="0"/>
          </a:p>
        </p:txBody>
      </p:sp>
      <p:sp>
        <p:nvSpPr>
          <p:cNvPr id="26" name="Text 24"/>
          <p:cNvSpPr/>
          <p:nvPr/>
        </p:nvSpPr>
        <p:spPr>
          <a:xfrm>
            <a:off x="6217920" y="4160520"/>
            <a:ext cx="365760" cy="365760"/>
          </a:xfrm>
          <a:prstGeom prst="rect">
            <a:avLst/>
          </a:prstGeom>
          <a:noFill/>
          <a:ln/>
        </p:spPr>
        <p:txBody>
          <a:bodyPr wrap="square" lIns="0" tIns="0" rIns="0" bIns="0" rtlCol="0" anchor="ctr"/>
          <a:lstStyle/>
          <a:p>
            <a:pPr algn="ctr" indent="0" marL="0">
              <a:buNone/>
            </a:pPr>
            <a:r>
              <a:rPr lang="en-US" sz="1600" dirty="0">
                <a:solidFill>
                  <a:srgbClr val="D4A843"/>
                </a:solidFill>
                <a:latin typeface="Meiryo" pitchFamily="34" charset="0"/>
                <a:ea typeface="Meiryo" pitchFamily="34" charset="-122"/>
                <a:cs typeface="Meiryo" pitchFamily="34" charset="-120"/>
              </a:rPr>
              <a:t>→</a:t>
            </a:r>
            <a:endParaRPr lang="en-US" sz="1600" dirty="0"/>
          </a:p>
        </p:txBody>
      </p:sp>
      <p:sp>
        <p:nvSpPr>
          <p:cNvPr id="27" name="Shape 25"/>
          <p:cNvSpPr/>
          <p:nvPr/>
        </p:nvSpPr>
        <p:spPr>
          <a:xfrm>
            <a:off x="6583680" y="4069080"/>
            <a:ext cx="2103120" cy="548640"/>
          </a:xfrm>
          <a:prstGeom prst="rect">
            <a:avLst/>
          </a:prstGeom>
          <a:solidFill>
            <a:srgbClr val="D97706"/>
          </a:solidFill>
          <a:ln/>
        </p:spPr>
      </p:sp>
      <p:sp>
        <p:nvSpPr>
          <p:cNvPr id="28" name="Text 26"/>
          <p:cNvSpPr/>
          <p:nvPr/>
        </p:nvSpPr>
        <p:spPr>
          <a:xfrm>
            <a:off x="6583680" y="4160520"/>
            <a:ext cx="2103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Antigravity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よくある質問</a:t>
            </a:r>
            <a:endParaRPr lang="en-US" sz="2200" dirty="0"/>
          </a:p>
        </p:txBody>
      </p:sp>
      <p:sp>
        <p:nvSpPr>
          <p:cNvPr id="4" name="Shape 2"/>
          <p:cNvSpPr/>
          <p:nvPr/>
        </p:nvSpPr>
        <p:spPr>
          <a:xfrm>
            <a:off x="457200" y="914400"/>
            <a:ext cx="822960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 name="Shape 3"/>
          <p:cNvSpPr/>
          <p:nvPr/>
        </p:nvSpPr>
        <p:spPr>
          <a:xfrm>
            <a:off x="457200" y="914400"/>
            <a:ext cx="109728" cy="1188720"/>
          </a:xfrm>
          <a:prstGeom prst="rect">
            <a:avLst/>
          </a:prstGeom>
          <a:solidFill>
            <a:srgbClr val="D4A843"/>
          </a:solidFill>
          <a:ln/>
        </p:spPr>
      </p:sp>
      <p:sp>
        <p:nvSpPr>
          <p:cNvPr id="6" name="Text 4"/>
          <p:cNvSpPr/>
          <p:nvPr/>
        </p:nvSpPr>
        <p:spPr>
          <a:xfrm>
            <a:off x="685800" y="960120"/>
            <a:ext cx="7772400" cy="411480"/>
          </a:xfrm>
          <a:prstGeom prst="rect">
            <a:avLst/>
          </a:prstGeom>
          <a:noFill/>
          <a:ln/>
        </p:spPr>
        <p:txBody>
          <a:bodyPr wrap="square" lIns="0" tIns="0" rIns="0" bIns="0" rtlCol="0" anchor="ctr"/>
          <a:lstStyle/>
          <a:p>
            <a:pPr indent="0" marL="0">
              <a:buNone/>
            </a:pPr>
            <a:r>
              <a:rPr lang="en-US" sz="1300" b="1" dirty="0">
                <a:solidFill>
                  <a:srgbClr val="1A1F36"/>
                </a:solidFill>
                <a:latin typeface="Meiryo" pitchFamily="34" charset="0"/>
                <a:ea typeface="Meiryo" pitchFamily="34" charset="-122"/>
                <a:cs typeface="Meiryo" pitchFamily="34" charset="-120"/>
              </a:rPr>
              <a:t>Q コードが全くわからなくても使えますか？</a:t>
            </a:r>
            <a:endParaRPr lang="en-US" sz="1300" dirty="0"/>
          </a:p>
        </p:txBody>
      </p:sp>
      <p:sp>
        <p:nvSpPr>
          <p:cNvPr id="7" name="Text 5"/>
          <p:cNvSpPr/>
          <p:nvPr/>
        </p:nvSpPr>
        <p:spPr>
          <a:xfrm>
            <a:off x="685800" y="1417320"/>
            <a:ext cx="7772400" cy="594360"/>
          </a:xfrm>
          <a:prstGeom prst="rect">
            <a:avLst/>
          </a:prstGeom>
          <a:noFill/>
          <a:ln/>
        </p:spPr>
        <p:txBody>
          <a:bodyPr wrap="square" lIns="0" tIns="0" rIns="0" bIns="0" rtlCol="0" anchor="ctr"/>
          <a:lstStyle/>
          <a:p>
            <a:pPr indent="0" marL="0">
              <a:buNone/>
            </a:pPr>
            <a:r>
              <a:rPr lang="en-US" sz="1200" dirty="0">
                <a:solidFill>
                  <a:srgbClr val="8892A4"/>
                </a:solidFill>
                <a:latin typeface="Meiryo" pitchFamily="34" charset="0"/>
                <a:ea typeface="Meiryo" pitchFamily="34" charset="-122"/>
                <a:cs typeface="Meiryo" pitchFamily="34" charset="-120"/>
              </a:rPr>
              <a:t>A  はい。特にClaudeとAntigravityはコード知識ゼロでも動かせます。Claude Codeはターミナル操作が必要ですが、Claudeに手順を聞けば大丈夫です。</a:t>
            </a:r>
            <a:endParaRPr lang="en-US" sz="1200" dirty="0"/>
          </a:p>
        </p:txBody>
      </p:sp>
      <p:sp>
        <p:nvSpPr>
          <p:cNvPr id="8" name="Shape 6"/>
          <p:cNvSpPr/>
          <p:nvPr/>
        </p:nvSpPr>
        <p:spPr>
          <a:xfrm>
            <a:off x="457200" y="2286000"/>
            <a:ext cx="822960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9" name="Shape 7"/>
          <p:cNvSpPr/>
          <p:nvPr/>
        </p:nvSpPr>
        <p:spPr>
          <a:xfrm>
            <a:off x="457200" y="2286000"/>
            <a:ext cx="109728" cy="1188720"/>
          </a:xfrm>
          <a:prstGeom prst="rect">
            <a:avLst/>
          </a:prstGeom>
          <a:solidFill>
            <a:srgbClr val="D4A843"/>
          </a:solidFill>
          <a:ln/>
        </p:spPr>
      </p:sp>
      <p:sp>
        <p:nvSpPr>
          <p:cNvPr id="10" name="Text 8"/>
          <p:cNvSpPr/>
          <p:nvPr/>
        </p:nvSpPr>
        <p:spPr>
          <a:xfrm>
            <a:off x="685800" y="2331720"/>
            <a:ext cx="7772400" cy="411480"/>
          </a:xfrm>
          <a:prstGeom prst="rect">
            <a:avLst/>
          </a:prstGeom>
          <a:noFill/>
          <a:ln/>
        </p:spPr>
        <p:txBody>
          <a:bodyPr wrap="square" lIns="0" tIns="0" rIns="0" bIns="0" rtlCol="0" anchor="ctr"/>
          <a:lstStyle/>
          <a:p>
            <a:pPr indent="0" marL="0">
              <a:buNone/>
            </a:pPr>
            <a:r>
              <a:rPr lang="en-US" sz="1300" b="1" dirty="0">
                <a:solidFill>
                  <a:srgbClr val="1A1F36"/>
                </a:solidFill>
                <a:latin typeface="Meiryo" pitchFamily="34" charset="0"/>
                <a:ea typeface="Meiryo" pitchFamily="34" charset="-122"/>
                <a:cs typeface="Meiryo" pitchFamily="34" charset="-120"/>
              </a:rPr>
              <a:t>Q どのツールも無料で使えますか？</a:t>
            </a:r>
            <a:endParaRPr lang="en-US" sz="1300" dirty="0"/>
          </a:p>
        </p:txBody>
      </p:sp>
      <p:sp>
        <p:nvSpPr>
          <p:cNvPr id="11" name="Text 9"/>
          <p:cNvSpPr/>
          <p:nvPr/>
        </p:nvSpPr>
        <p:spPr>
          <a:xfrm>
            <a:off x="685800" y="2788920"/>
            <a:ext cx="7772400" cy="594360"/>
          </a:xfrm>
          <a:prstGeom prst="rect">
            <a:avLst/>
          </a:prstGeom>
          <a:noFill/>
          <a:ln/>
        </p:spPr>
        <p:txBody>
          <a:bodyPr wrap="square" lIns="0" tIns="0" rIns="0" bIns="0" rtlCol="0" anchor="ctr"/>
          <a:lstStyle/>
          <a:p>
            <a:pPr indent="0" marL="0">
              <a:buNone/>
            </a:pPr>
            <a:r>
              <a:rPr lang="en-US" sz="1200" dirty="0">
                <a:solidFill>
                  <a:srgbClr val="8892A4"/>
                </a:solidFill>
                <a:latin typeface="Meiryo" pitchFamily="34" charset="0"/>
                <a:ea typeface="Meiryo" pitchFamily="34" charset="-122"/>
                <a:cs typeface="Meiryo" pitchFamily="34" charset="-120"/>
              </a:rPr>
              <a:t>A  Claudeは無料プランあり（Pro推奨）、Claude CodeはPro必須、Antigravityは無料プランで並行利用可能です。</a:t>
            </a:r>
            <a:endParaRPr lang="en-US" sz="1200" dirty="0"/>
          </a:p>
        </p:txBody>
      </p:sp>
      <p:sp>
        <p:nvSpPr>
          <p:cNvPr id="12" name="Shape 10"/>
          <p:cNvSpPr/>
          <p:nvPr/>
        </p:nvSpPr>
        <p:spPr>
          <a:xfrm>
            <a:off x="457200" y="3657600"/>
            <a:ext cx="822960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3" name="Shape 11"/>
          <p:cNvSpPr/>
          <p:nvPr/>
        </p:nvSpPr>
        <p:spPr>
          <a:xfrm>
            <a:off x="457200" y="3657600"/>
            <a:ext cx="109728" cy="1188720"/>
          </a:xfrm>
          <a:prstGeom prst="rect">
            <a:avLst/>
          </a:prstGeom>
          <a:solidFill>
            <a:srgbClr val="D4A843"/>
          </a:solidFill>
          <a:ln/>
        </p:spPr>
      </p:sp>
      <p:sp>
        <p:nvSpPr>
          <p:cNvPr id="14" name="Text 12"/>
          <p:cNvSpPr/>
          <p:nvPr/>
        </p:nvSpPr>
        <p:spPr>
          <a:xfrm>
            <a:off x="685800" y="3703320"/>
            <a:ext cx="7772400" cy="411480"/>
          </a:xfrm>
          <a:prstGeom prst="rect">
            <a:avLst/>
          </a:prstGeom>
          <a:noFill/>
          <a:ln/>
        </p:spPr>
        <p:txBody>
          <a:bodyPr wrap="square" lIns="0" tIns="0" rIns="0" bIns="0" rtlCol="0" anchor="ctr"/>
          <a:lstStyle/>
          <a:p>
            <a:pPr indent="0" marL="0">
              <a:buNone/>
            </a:pPr>
            <a:r>
              <a:rPr lang="en-US" sz="1300" b="1" dirty="0">
                <a:solidFill>
                  <a:srgbClr val="1A1F36"/>
                </a:solidFill>
                <a:latin typeface="Meiryo" pitchFamily="34" charset="0"/>
                <a:ea typeface="Meiryo" pitchFamily="34" charset="-122"/>
                <a:cs typeface="Meiryo" pitchFamily="34" charset="-120"/>
              </a:rPr>
              <a:t>Q 英語じゃないとうまく動かないですか？</a:t>
            </a:r>
            <a:endParaRPr lang="en-US" sz="1300" dirty="0"/>
          </a:p>
        </p:txBody>
      </p:sp>
      <p:sp>
        <p:nvSpPr>
          <p:cNvPr id="15" name="Text 13"/>
          <p:cNvSpPr/>
          <p:nvPr/>
        </p:nvSpPr>
        <p:spPr>
          <a:xfrm>
            <a:off x="685800" y="4160520"/>
            <a:ext cx="7772400" cy="594360"/>
          </a:xfrm>
          <a:prstGeom prst="rect">
            <a:avLst/>
          </a:prstGeom>
          <a:noFill/>
          <a:ln/>
        </p:spPr>
        <p:txBody>
          <a:bodyPr wrap="square" lIns="0" tIns="0" rIns="0" bIns="0" rtlCol="0" anchor="ctr"/>
          <a:lstStyle/>
          <a:p>
            <a:pPr indent="0" marL="0">
              <a:buNone/>
            </a:pPr>
            <a:r>
              <a:rPr lang="en-US" sz="1200" dirty="0">
                <a:solidFill>
                  <a:srgbClr val="8892A4"/>
                </a:solidFill>
                <a:latin typeface="Meiryo" pitchFamily="34" charset="0"/>
                <a:ea typeface="Meiryo" pitchFamily="34" charset="-122"/>
                <a:cs typeface="Meiryo" pitchFamily="34" charset="-120"/>
              </a:rPr>
              <a:t>A  日本語で全く問題ありません。日本語でやり取りする方が自分の意図が伝わりやすい場合も多いです。</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sp>
      <p:sp>
        <p:nvSpPr>
          <p:cNvPr id="3" name="Text 1"/>
          <p:cNvSpPr/>
          <p:nvPr/>
        </p:nvSpPr>
        <p:spPr>
          <a:xfrm>
            <a:off x="457200" y="109728"/>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今日からできること</a:t>
            </a:r>
            <a:endParaRPr lang="en-US" sz="2200" dirty="0"/>
          </a:p>
        </p:txBody>
      </p:sp>
      <p:sp>
        <p:nvSpPr>
          <p:cNvPr id="4" name="Shape 2"/>
          <p:cNvSpPr/>
          <p:nvPr/>
        </p:nvSpPr>
        <p:spPr>
          <a:xfrm>
            <a:off x="457200" y="1005840"/>
            <a:ext cx="8229600" cy="10058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 name="Shape 3"/>
          <p:cNvSpPr/>
          <p:nvPr/>
        </p:nvSpPr>
        <p:spPr>
          <a:xfrm>
            <a:off x="457200" y="1005840"/>
            <a:ext cx="1280160" cy="1005840"/>
          </a:xfrm>
          <a:prstGeom prst="rect">
            <a:avLst/>
          </a:prstGeom>
          <a:solidFill>
            <a:srgbClr val="3B82C4"/>
          </a:solidFill>
          <a:ln/>
        </p:spPr>
      </p:sp>
      <p:sp>
        <p:nvSpPr>
          <p:cNvPr id="6" name="Text 4"/>
          <p:cNvSpPr/>
          <p:nvPr/>
        </p:nvSpPr>
        <p:spPr>
          <a:xfrm>
            <a:off x="457200" y="1261872"/>
            <a:ext cx="12801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今日</a:t>
            </a:r>
            <a:endParaRPr lang="en-US" sz="1800" dirty="0"/>
          </a:p>
        </p:txBody>
      </p:sp>
      <p:sp>
        <p:nvSpPr>
          <p:cNvPr id="7" name="Text 5"/>
          <p:cNvSpPr/>
          <p:nvPr/>
        </p:nvSpPr>
        <p:spPr>
          <a:xfrm>
            <a:off x="1920240" y="1234440"/>
            <a:ext cx="6492240" cy="5486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Claudeを開いて、気になっていたことを1つ相談してみる</a:t>
            </a:r>
            <a:endParaRPr lang="en-US" sz="1400" dirty="0"/>
          </a:p>
        </p:txBody>
      </p:sp>
      <p:sp>
        <p:nvSpPr>
          <p:cNvPr id="8" name="Shape 6"/>
          <p:cNvSpPr/>
          <p:nvPr/>
        </p:nvSpPr>
        <p:spPr>
          <a:xfrm>
            <a:off x="457200" y="2240280"/>
            <a:ext cx="8229600" cy="10058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9" name="Shape 7"/>
          <p:cNvSpPr/>
          <p:nvPr/>
        </p:nvSpPr>
        <p:spPr>
          <a:xfrm>
            <a:off x="457200" y="2240280"/>
            <a:ext cx="1280160" cy="1005840"/>
          </a:xfrm>
          <a:prstGeom prst="rect">
            <a:avLst/>
          </a:prstGeom>
          <a:solidFill>
            <a:srgbClr val="D97706"/>
          </a:solidFill>
          <a:ln/>
        </p:spPr>
      </p:sp>
      <p:sp>
        <p:nvSpPr>
          <p:cNvPr id="10" name="Text 8"/>
          <p:cNvSpPr/>
          <p:nvPr/>
        </p:nvSpPr>
        <p:spPr>
          <a:xfrm>
            <a:off x="457200" y="2496312"/>
            <a:ext cx="12801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今週</a:t>
            </a:r>
            <a:endParaRPr lang="en-US" sz="1800" dirty="0"/>
          </a:p>
        </p:txBody>
      </p:sp>
      <p:sp>
        <p:nvSpPr>
          <p:cNvPr id="11" name="Text 9"/>
          <p:cNvSpPr/>
          <p:nvPr/>
        </p:nvSpPr>
        <p:spPr>
          <a:xfrm>
            <a:off x="1920240" y="2468880"/>
            <a:ext cx="6492240" cy="5486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Antigravityにアクセスして、小さなツールを1つ作ってみる</a:t>
            </a:r>
            <a:endParaRPr lang="en-US" sz="1400" dirty="0"/>
          </a:p>
        </p:txBody>
      </p:sp>
      <p:sp>
        <p:nvSpPr>
          <p:cNvPr id="12" name="Shape 10"/>
          <p:cNvSpPr/>
          <p:nvPr/>
        </p:nvSpPr>
        <p:spPr>
          <a:xfrm>
            <a:off x="457200" y="3474720"/>
            <a:ext cx="8229600" cy="10058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3" name="Shape 11"/>
          <p:cNvSpPr/>
          <p:nvPr/>
        </p:nvSpPr>
        <p:spPr>
          <a:xfrm>
            <a:off x="457200" y="3474720"/>
            <a:ext cx="1280160" cy="1005840"/>
          </a:xfrm>
          <a:prstGeom prst="rect">
            <a:avLst/>
          </a:prstGeom>
          <a:solidFill>
            <a:srgbClr val="2E8B57"/>
          </a:solidFill>
          <a:ln/>
        </p:spPr>
      </p:sp>
      <p:sp>
        <p:nvSpPr>
          <p:cNvPr id="14" name="Text 12"/>
          <p:cNvSpPr/>
          <p:nvPr/>
        </p:nvSpPr>
        <p:spPr>
          <a:xfrm>
            <a:off x="457200" y="3730752"/>
            <a:ext cx="12801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今月</a:t>
            </a:r>
            <a:endParaRPr lang="en-US" sz="1800" dirty="0"/>
          </a:p>
        </p:txBody>
      </p:sp>
      <p:sp>
        <p:nvSpPr>
          <p:cNvPr id="15" name="Text 13"/>
          <p:cNvSpPr/>
          <p:nvPr/>
        </p:nvSpPr>
        <p:spPr>
          <a:xfrm>
            <a:off x="1920240" y="3703320"/>
            <a:ext cx="6492240" cy="548640"/>
          </a:xfrm>
          <a:prstGeom prst="rect">
            <a:avLst/>
          </a:prstGeom>
          <a:noFill/>
          <a:ln/>
        </p:spPr>
        <p:txBody>
          <a:bodyPr wrap="square" lIns="0" tIns="0" rIns="0" bIns="0" rtlCol="0" anchor="ctr"/>
          <a:lstStyle/>
          <a:p>
            <a:pPr indent="0" marL="0">
              <a:buNone/>
            </a:pPr>
            <a:r>
              <a:rPr lang="en-US" sz="1400" dirty="0">
                <a:solidFill>
                  <a:srgbClr val="1A1F36"/>
                </a:solidFill>
                <a:latin typeface="Meiryo" pitchFamily="34" charset="0"/>
                <a:ea typeface="Meiryo" pitchFamily="34" charset="-122"/>
                <a:cs typeface="Meiryo" pitchFamily="34" charset="-120"/>
              </a:rPr>
              <a:t>3つのツールを使い分けて、仕事の1つを自動化・効率化する</a:t>
            </a:r>
            <a:endParaRPr lang="en-US" sz="1400" dirty="0"/>
          </a:p>
        </p:txBody>
      </p:sp>
      <p:sp>
        <p:nvSpPr>
          <p:cNvPr id="16" name="Text 14"/>
          <p:cNvSpPr/>
          <p:nvPr/>
        </p:nvSpPr>
        <p:spPr>
          <a:xfrm>
            <a:off x="457200" y="4709160"/>
            <a:ext cx="8229600" cy="320040"/>
          </a:xfrm>
          <a:prstGeom prst="rect">
            <a:avLst/>
          </a:prstGeom>
          <a:noFill/>
          <a:ln/>
        </p:spPr>
        <p:txBody>
          <a:bodyPr wrap="square" lIns="0" tIns="0" rIns="0" bIns="0" rtlCol="0" anchor="ctr"/>
          <a:lstStyle/>
          <a:p>
            <a:pPr indent="0" marL="0">
              <a:buNone/>
            </a:pPr>
            <a:r>
              <a:rPr lang="en-US" sz="1300" i="1" dirty="0">
                <a:solidFill>
                  <a:srgbClr val="8892A4"/>
                </a:solidFill>
                <a:latin typeface="Meiryo" pitchFamily="34" charset="0"/>
                <a:ea typeface="Meiryo" pitchFamily="34" charset="-122"/>
                <a:cs typeface="Meiryo" pitchFamily="34" charset="-120"/>
              </a:rPr>
              <a:t>小さく始めて、少しずつ使いこなす。それが一番の近道です。</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A843"/>
          </a:solidFill>
          <a:ln/>
        </p:spPr>
      </p:sp>
      <p:sp>
        <p:nvSpPr>
          <p:cNvPr id="3" name="Text 1"/>
          <p:cNvSpPr/>
          <p:nvPr/>
        </p:nvSpPr>
        <p:spPr>
          <a:xfrm>
            <a:off x="502920" y="548640"/>
            <a:ext cx="8229600" cy="640080"/>
          </a:xfrm>
          <a:prstGeom prst="rect">
            <a:avLst/>
          </a:prstGeom>
          <a:noFill/>
          <a:ln/>
        </p:spPr>
        <p:txBody>
          <a:bodyPr wrap="square" lIns="0" tIns="0" rIns="0" bIns="0" rtlCol="0" anchor="ctr"/>
          <a:lstStyle/>
          <a:p>
            <a:pPr indent="0" marL="0">
              <a:buNone/>
            </a:pPr>
            <a:r>
              <a:rPr lang="en-US" sz="2800" b="1" dirty="0">
                <a:solidFill>
                  <a:srgbClr val="D4A843"/>
                </a:solidFill>
                <a:latin typeface="Meiryo" pitchFamily="34" charset="0"/>
                <a:ea typeface="Meiryo" pitchFamily="34" charset="-122"/>
                <a:cs typeface="Meiryo" pitchFamily="34" charset="-120"/>
              </a:rPr>
              <a:t>まとめ</a:t>
            </a:r>
            <a:endParaRPr lang="en-US" sz="2800" dirty="0"/>
          </a:p>
        </p:txBody>
      </p:sp>
      <p:sp>
        <p:nvSpPr>
          <p:cNvPr id="4" name="Shape 2"/>
          <p:cNvSpPr/>
          <p:nvPr/>
        </p:nvSpPr>
        <p:spPr>
          <a:xfrm>
            <a:off x="502920" y="1371600"/>
            <a:ext cx="73152" cy="411480"/>
          </a:xfrm>
          <a:prstGeom prst="rect">
            <a:avLst/>
          </a:prstGeom>
          <a:solidFill>
            <a:srgbClr val="D4A843"/>
          </a:solidFill>
          <a:ln/>
        </p:spPr>
      </p:sp>
      <p:sp>
        <p:nvSpPr>
          <p:cNvPr id="5" name="Text 3"/>
          <p:cNvSpPr/>
          <p:nvPr/>
        </p:nvSpPr>
        <p:spPr>
          <a:xfrm>
            <a:off x="731520" y="1399032"/>
            <a:ext cx="7772400" cy="36576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Claudeは「考える・書く」パートナー</a:t>
            </a:r>
            <a:endParaRPr lang="en-US" sz="1500" dirty="0"/>
          </a:p>
        </p:txBody>
      </p:sp>
      <p:sp>
        <p:nvSpPr>
          <p:cNvPr id="6" name="Shape 4"/>
          <p:cNvSpPr/>
          <p:nvPr/>
        </p:nvSpPr>
        <p:spPr>
          <a:xfrm>
            <a:off x="502920" y="2084832"/>
            <a:ext cx="73152" cy="411480"/>
          </a:xfrm>
          <a:prstGeom prst="rect">
            <a:avLst/>
          </a:prstGeom>
          <a:solidFill>
            <a:srgbClr val="D4A843"/>
          </a:solidFill>
          <a:ln/>
        </p:spPr>
      </p:sp>
      <p:sp>
        <p:nvSpPr>
          <p:cNvPr id="7" name="Text 5"/>
          <p:cNvSpPr/>
          <p:nvPr/>
        </p:nvSpPr>
        <p:spPr>
          <a:xfrm>
            <a:off x="731520" y="2112264"/>
            <a:ext cx="7772400" cy="36576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Claude Codeは「既存コードを直す」職人</a:t>
            </a:r>
            <a:endParaRPr lang="en-US" sz="1500" dirty="0"/>
          </a:p>
        </p:txBody>
      </p:sp>
      <p:sp>
        <p:nvSpPr>
          <p:cNvPr id="8" name="Shape 6"/>
          <p:cNvSpPr/>
          <p:nvPr/>
        </p:nvSpPr>
        <p:spPr>
          <a:xfrm>
            <a:off x="502920" y="2798064"/>
            <a:ext cx="73152" cy="411480"/>
          </a:xfrm>
          <a:prstGeom prst="rect">
            <a:avLst/>
          </a:prstGeom>
          <a:solidFill>
            <a:srgbClr val="D4A843"/>
          </a:solidFill>
          <a:ln/>
        </p:spPr>
      </p:sp>
      <p:sp>
        <p:nvSpPr>
          <p:cNvPr id="9" name="Text 7"/>
          <p:cNvSpPr/>
          <p:nvPr/>
        </p:nvSpPr>
        <p:spPr>
          <a:xfrm>
            <a:off x="731520" y="2825496"/>
            <a:ext cx="7772400" cy="36576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Antigravityは「ゼロから作る」開発エンジン</a:t>
            </a:r>
            <a:endParaRPr lang="en-US" sz="1500" dirty="0"/>
          </a:p>
        </p:txBody>
      </p:sp>
      <p:sp>
        <p:nvSpPr>
          <p:cNvPr id="10" name="Shape 8"/>
          <p:cNvSpPr/>
          <p:nvPr/>
        </p:nvSpPr>
        <p:spPr>
          <a:xfrm>
            <a:off x="502920" y="3511296"/>
            <a:ext cx="73152" cy="411480"/>
          </a:xfrm>
          <a:prstGeom prst="rect">
            <a:avLst/>
          </a:prstGeom>
          <a:solidFill>
            <a:srgbClr val="D4A843"/>
          </a:solidFill>
          <a:ln/>
        </p:spPr>
      </p:sp>
      <p:sp>
        <p:nvSpPr>
          <p:cNvPr id="11" name="Text 9"/>
          <p:cNvSpPr/>
          <p:nvPr/>
        </p:nvSpPr>
        <p:spPr>
          <a:xfrm>
            <a:off x="731520" y="3538728"/>
            <a:ext cx="7772400" cy="36576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3つを組み合わせれば、コード知識ゼロでも仕事が変わる</a:t>
            </a:r>
            <a:endParaRPr lang="en-US" sz="1500" dirty="0"/>
          </a:p>
        </p:txBody>
      </p:sp>
      <p:sp>
        <p:nvSpPr>
          <p:cNvPr id="12" name="Text 10"/>
          <p:cNvSpPr/>
          <p:nvPr/>
        </p:nvSpPr>
        <p:spPr>
          <a:xfrm>
            <a:off x="502920" y="4297680"/>
            <a:ext cx="8229600" cy="548640"/>
          </a:xfrm>
          <a:prstGeom prst="rect">
            <a:avLst/>
          </a:prstGeom>
          <a:noFill/>
          <a:ln/>
        </p:spPr>
        <p:txBody>
          <a:bodyPr wrap="square" lIns="0" tIns="0" rIns="0" bIns="0" rtlCol="0" anchor="ctr"/>
          <a:lstStyle/>
          <a:p>
            <a:pPr indent="0" marL="0">
              <a:buNone/>
            </a:pPr>
            <a:r>
              <a:rPr lang="en-US" sz="1800" dirty="0">
                <a:solidFill>
                  <a:srgbClr val="F0CC7A"/>
                </a:solidFill>
                <a:latin typeface="Meiryo" pitchFamily="34" charset="0"/>
                <a:ea typeface="Meiryo" pitchFamily="34" charset="-122"/>
                <a:cs typeface="Meiryo" pitchFamily="34" charset="-120"/>
              </a:rPr>
              <a:t>ご参加ありがとうございました</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AIツール使い分け講座</dc:title>
  <dc:subject>PptxGenJS Presentation</dc:subject>
  <dc:creator>PptxGenJS</dc:creator>
  <cp:lastModifiedBy>PptxGenJS</cp:lastModifiedBy>
  <cp:revision>1</cp:revision>
  <dcterms:created xsi:type="dcterms:W3CDTF">2026-04-13T01:00:20Z</dcterms:created>
  <dcterms:modified xsi:type="dcterms:W3CDTF">2026-04-13T01:00:20Z</dcterms:modified>
</cp:coreProperties>
</file>